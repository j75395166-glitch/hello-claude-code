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937760" cy="68580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0"/>
            <a:ext cx="2194560" cy="6858000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731520"/>
            <a:ext cx="2743200" cy="2743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0" y="731520"/>
            <a:ext cx="2743200" cy="2743200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1188720"/>
            <a:ext cx="1828800" cy="18288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200">
                <a:solidFill>
                  <a:srgbClr val="E8CC6B"/>
                </a:solidFill>
                <a:latin typeface="Microsoft YaHei"/>
                <a:ea typeface="Microsoft YaHei"/>
              </a:rPr>
              <a:t>PROPOSAL  ·  STRATEGIC SEED INDUSTRY DATA &amp;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8686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</a:rPr>
              <a:t>种业战略信息库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9144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E8CC6B"/>
                </a:solidFill>
                <a:latin typeface="Microsoft YaHei"/>
                <a:ea typeface="Microsoft YaHei"/>
              </a:rPr>
              <a:t>优化升级 · 数据 BI 与 AI 一体化解决方案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39"/>
            <a:ext cx="146304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77639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Strategic Indicators  ·  Benchmarking Intelligence  ·  Knowledge &amp; AI Applications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7784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提交方  ·  XX 数字化咨询有限公司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CC6B"/>
                </a:solidFill>
                <a:latin typeface="Microsoft YaHei"/>
                <a:ea typeface="Microsoft YaHei"/>
              </a:rPr>
              <a:t>出品  ·  Senior Partner / Lead Architect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17920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日期  ·  2026 年 4 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217920"/>
            <a:ext cx="36576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50">
                <a:solidFill>
                  <a:srgbClr val="E8CC6B"/>
                </a:solidFill>
                <a:latin typeface="Microsoft YaHei"/>
                <a:ea typeface="Microsoft YaHei"/>
              </a:rPr>
              <a:t>CONFIDENTIAL · For Client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目  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02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822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C9A227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1508760"/>
            <a:ext cx="36576" cy="6400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39" y="1463040"/>
            <a:ext cx="4206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4332"/>
                </a:solidFill>
                <a:latin typeface="Microsoft YaHei"/>
                <a:ea typeface="Microsoft YaHei"/>
              </a:rPr>
              <a:t>对客户业务的理解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39" y="1874519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Business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822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C9A227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508760"/>
            <a:ext cx="36576" cy="6400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463040"/>
            <a:ext cx="4206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4332"/>
                </a:solidFill>
                <a:latin typeface="Microsoft YaHei"/>
                <a:ea typeface="Microsoft YaHei"/>
              </a:rPr>
              <a:t>现状诊断与建设策略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874519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Diagnosis &amp;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377440"/>
            <a:ext cx="822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C9A227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2468880"/>
            <a:ext cx="36576" cy="6400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39" y="2423160"/>
            <a:ext cx="4206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4332"/>
                </a:solidFill>
                <a:latin typeface="Microsoft YaHei"/>
                <a:ea typeface="Microsoft YaHei"/>
              </a:rPr>
              <a:t>总体方案与技术架构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39" y="283464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Solution &amp;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377440"/>
            <a:ext cx="822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C9A227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468880"/>
            <a:ext cx="36576" cy="6400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2423160"/>
            <a:ext cx="4206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4332"/>
                </a:solidFill>
                <a:latin typeface="Microsoft YaHei"/>
                <a:ea typeface="Microsoft YaHei"/>
              </a:rPr>
              <a:t>战略指标库 / 对标 / 知识库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83464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3 Pillars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337560"/>
            <a:ext cx="822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C9A227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3429000"/>
            <a:ext cx="36576" cy="6400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91639" y="3383280"/>
            <a:ext cx="4206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4332"/>
                </a:solidFill>
                <a:latin typeface="Microsoft YaHei"/>
                <a:ea typeface="Microsoft YaHei"/>
              </a:rPr>
              <a:t>AI 智能问答与自动化报告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39" y="379476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AI Application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337560"/>
            <a:ext cx="822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C9A227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3429000"/>
            <a:ext cx="36576" cy="6400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3383280"/>
            <a:ext cx="4206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4332"/>
                </a:solidFill>
                <a:latin typeface="Microsoft YaHei"/>
                <a:ea typeface="Microsoft YaHei"/>
              </a:rPr>
              <a:t>实施方法论与项目管理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379476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Delivery &amp; PMO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297680"/>
            <a:ext cx="822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C9A227"/>
                </a:solidFill>
                <a:latin typeface="Calibri"/>
                <a:ea typeface="Calibri"/>
              </a:rPr>
              <a:t>07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54480" y="4389120"/>
            <a:ext cx="36576" cy="6400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91639" y="4343400"/>
            <a:ext cx="4206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4332"/>
                </a:solidFill>
                <a:latin typeface="Microsoft YaHei"/>
                <a:ea typeface="Microsoft YaHei"/>
              </a:rPr>
              <a:t>运维服务与价值交付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39" y="475488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Operation &amp;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02 / 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26280" y="0"/>
            <a:ext cx="7315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0" b="1">
                <a:solidFill>
                  <a:srgbClr val="C9A227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spc="300">
                <a:solidFill>
                  <a:srgbClr val="E8CC6B"/>
                </a:solidFill>
                <a:latin typeface="Microsoft YaHei"/>
                <a:ea typeface="Microsoft YaHei"/>
              </a:rPr>
              <a:t>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68580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对客户业务的理解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24612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100">
                <a:solidFill>
                  <a:srgbClr val="E8CC6B"/>
                </a:solidFill>
                <a:latin typeface="Microsoft YaHei"/>
                <a:ea typeface="Microsoft YaHei"/>
              </a:rPr>
              <a:t>Business Understanding · Seed Strategy in Digital Era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840480"/>
            <a:ext cx="54864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4023360"/>
            <a:ext cx="6400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种业是国家粮食安全的“芯片”，数据是种业战略决策的“基因”。
本章梳理对客户业务定位、战略命题及数据应用价值的判断。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03 /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BUSINESS CONTEXT · 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种业战略全景：从“国家芯片“到“企业护城河”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04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5029200" cy="466344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73152" cy="46634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463040"/>
            <a:ext cx="4572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4332"/>
                </a:solidFill>
                <a:latin typeface="Microsoft YaHei"/>
                <a:ea typeface="Microsoft YaHei"/>
              </a:rPr>
              <a:t>种业行业 Macro 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87451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Macro Outlook on Seed Industry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86000"/>
            <a:ext cx="457200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25000"/>
              </a:lnSpc>
            </a:pPr>
            <a:r>
              <a:rPr sz="1150" b="1">
                <a:solidFill>
                  <a:srgbClr val="2D6A4F"/>
                </a:solidFill>
                <a:latin typeface="Microsoft YaHei"/>
                <a:ea typeface="Microsoft YaHei"/>
              </a:rPr>
              <a:t>●  </a:t>
            </a:r>
            <a:r>
              <a:rPr sz="1150">
                <a:solidFill>
                  <a:srgbClr val="242D3A"/>
                </a:solidFill>
                <a:latin typeface="Microsoft YaHei"/>
                <a:ea typeface="Microsoft YaHei"/>
              </a:rPr>
              <a:t>国家“种业振兴行动“持续深入，行业竞争从规模驱动转向科技+数据驱动；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50" b="1">
                <a:solidFill>
                  <a:srgbClr val="2D6A4F"/>
                </a:solidFill>
                <a:latin typeface="Microsoft YaHei"/>
                <a:ea typeface="Microsoft YaHei"/>
              </a:rPr>
              <a:t>●  </a:t>
            </a:r>
            <a:r>
              <a:rPr sz="1150">
                <a:solidFill>
                  <a:srgbClr val="242D3A"/>
                </a:solidFill>
                <a:latin typeface="Microsoft YaHei"/>
                <a:ea typeface="Microsoft YaHei"/>
              </a:rPr>
              <a:t>全球 Top 4（拜耳、科迪华、先正达、巴斯夫）合计份额超 50%，国内集中度持续提升；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50" b="1">
                <a:solidFill>
                  <a:srgbClr val="2D6A4F"/>
                </a:solidFill>
                <a:latin typeface="Microsoft YaHei"/>
                <a:ea typeface="Microsoft YaHei"/>
              </a:rPr>
              <a:t>●  </a:t>
            </a:r>
            <a:r>
              <a:rPr sz="1150">
                <a:solidFill>
                  <a:srgbClr val="242D3A"/>
                </a:solidFill>
                <a:latin typeface="Microsoft YaHei"/>
                <a:ea typeface="Microsoft YaHei"/>
              </a:rPr>
              <a:t>PCT 专利、种质资源、品种审定通过数已成衡量科研竞争力的核心指标；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50" b="1">
                <a:solidFill>
                  <a:srgbClr val="2D6A4F"/>
                </a:solidFill>
                <a:latin typeface="Microsoft YaHei"/>
                <a:ea typeface="Microsoft YaHei"/>
              </a:rPr>
              <a:t>●  </a:t>
            </a:r>
            <a:r>
              <a:rPr sz="1150">
                <a:solidFill>
                  <a:srgbClr val="242D3A"/>
                </a:solidFill>
                <a:latin typeface="Microsoft YaHei"/>
                <a:ea typeface="Microsoft YaHei"/>
              </a:rPr>
              <a:t>Wind / 万得 / 农业农村部 / 种业发展报告 等数据源呈“多源、异构、半结构化“特征；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50" b="1">
                <a:solidFill>
                  <a:srgbClr val="2D6A4F"/>
                </a:solidFill>
                <a:latin typeface="Microsoft YaHei"/>
                <a:ea typeface="Microsoft YaHei"/>
              </a:rPr>
              <a:t>●  </a:t>
            </a:r>
            <a:r>
              <a:rPr sz="1150">
                <a:solidFill>
                  <a:srgbClr val="242D3A"/>
                </a:solidFill>
                <a:latin typeface="Microsoft YaHei"/>
                <a:ea typeface="Microsoft YaHei"/>
              </a:rPr>
              <a:t>战略决策对“指标可信、对标可比、洞察可用“三重数据能力提出更高要求。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325880"/>
            <a:ext cx="5943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4332"/>
                </a:solidFill>
                <a:latin typeface="Microsoft YaHei"/>
                <a:ea typeface="Microsoft YaHei"/>
              </a:rPr>
              <a:t>客户战略管理四大命题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737360"/>
            <a:ext cx="5943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Four Strategic Questions Data Must Answer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240280"/>
            <a:ext cx="278892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16752" y="2423160"/>
            <a:ext cx="502920" cy="50292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16752" y="2487168"/>
            <a:ext cx="502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441448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4332"/>
                </a:solidFill>
                <a:latin typeface="Microsoft YaHei"/>
                <a:ea typeface="Microsoft YaHei"/>
              </a:rPr>
              <a:t>我们处在哪？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3017520"/>
            <a:ext cx="2542032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市占率、毛利率、收入规模等 KPI 在行业中的相对位置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240280"/>
            <a:ext cx="278892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942832" y="2423160"/>
            <a:ext cx="502920" cy="50292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42832" y="2487168"/>
            <a:ext cx="502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441448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4332"/>
                </a:solidFill>
                <a:latin typeface="Microsoft YaHei"/>
                <a:ea typeface="Microsoft YaHei"/>
              </a:rPr>
              <a:t>我们差在哪？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3017520"/>
            <a:ext cx="2542032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对标 Top 玩家差距分解（科研投入/产能/渠道/盈利能力）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4023360"/>
            <a:ext cx="278892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16752" y="4206240"/>
            <a:ext cx="502920" cy="50292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16752" y="4270248"/>
            <a:ext cx="502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224528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4332"/>
                </a:solidFill>
                <a:latin typeface="Microsoft YaHei"/>
                <a:ea typeface="Microsoft YaHei"/>
              </a:rPr>
              <a:t>未来增长在哪？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6752" y="4800600"/>
            <a:ext cx="2542032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品类、区域、品种结构与外部 Trend 信号的耦合分析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4023360"/>
            <a:ext cx="278892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942832" y="4206240"/>
            <a:ext cx="502920" cy="50292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42832" y="4270248"/>
            <a:ext cx="502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4224528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4332"/>
                </a:solidFill>
                <a:latin typeface="Microsoft YaHei"/>
                <a:ea typeface="Microsoft YaHei"/>
              </a:rPr>
              <a:t>如何更快做决策？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42832" y="4800600"/>
            <a:ext cx="2542032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智能问答 + 自动化报告，分钟级响应业务侧 Ad-hoc 提问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04 / 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DIAGNOSIS ·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现状诊断：四大瓶颈制约战略数据价值释放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74320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2743200" cy="7772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8132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FFFFFF"/>
                </a:solidFill>
                <a:latin typeface="Microsoft YaHei"/>
                <a:ea typeface="Microsoft YaHei"/>
              </a:rPr>
              <a:t>Indicator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指标口径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46304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3400" b="1">
                <a:solidFill>
                  <a:srgbClr val="E8CC6B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331720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指标定义分散、口径不统一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26080"/>
            <a:ext cx="365760" cy="36576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63240"/>
            <a:ext cx="237744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缺少统一的指标治理与版本管理机制，不同部门同名不同义、同义不同算，结果难以复用。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03520"/>
            <a:ext cx="1097280" cy="292608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2180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B4332"/>
                </a:solidFill>
                <a:latin typeface="Microsoft YaHei"/>
                <a:ea typeface="Microsoft YaHei"/>
              </a:rPr>
              <a:t>  影响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235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决策延迟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1371600"/>
            <a:ext cx="274320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1371600"/>
            <a:ext cx="2743200" cy="7772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148132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FFFFFF"/>
                </a:solidFill>
                <a:latin typeface="Microsoft YaHei"/>
                <a:ea typeface="Microsoft YaHei"/>
              </a:rPr>
              <a:t>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173736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对标缺失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146304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3400" b="1">
                <a:solidFill>
                  <a:srgbClr val="E8CC6B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2331720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对标数据支撑不足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926080"/>
            <a:ext cx="365760" cy="36576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3063240"/>
            <a:ext cx="237744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外部 Wind 数据、行业报告、Top 竞争对手财报未结构化入库，分析师手工拼接、效率低。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5303520"/>
            <a:ext cx="1097280" cy="292608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532180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1A365D"/>
                </a:solidFill>
                <a:latin typeface="Microsoft YaHei"/>
                <a:ea typeface="Microsoft YaHei"/>
              </a:rPr>
              <a:t>  影响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6235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对比缺口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1371600"/>
            <a:ext cx="274320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1371600"/>
            <a:ext cx="2743200" cy="77724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148132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FFFFFF"/>
                </a:solidFill>
                <a:latin typeface="Microsoft YaHei"/>
                <a:ea typeface="Microsoft YaHei"/>
              </a:rPr>
              <a:t>Knowledge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173736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知识沉淀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146304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3400" b="1">
                <a:solidFill>
                  <a:srgbClr val="E8CC6B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331720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知识利用水平不高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2926080"/>
            <a:ext cx="365760" cy="36576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063240"/>
            <a:ext cx="237744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周报、行业报告、专家研判散落在 OSS 与本地，无统一管理；AI 应用浅、未形成 RAG 闭环。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5303520"/>
            <a:ext cx="1097280" cy="292608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532180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2D6A4F"/>
                </a:solidFill>
                <a:latin typeface="Microsoft YaHei"/>
                <a:ea typeface="Microsoft YaHei"/>
              </a:rPr>
              <a:t>  影响 Impact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6235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RAG 缺失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0" y="1371600"/>
            <a:ext cx="2743200" cy="466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35440" y="1371600"/>
            <a:ext cx="2743200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0" y="1481328"/>
            <a:ext cx="1463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FFFFFF"/>
                </a:solidFill>
                <a:latin typeface="Microsoft YaHei"/>
                <a:ea typeface="Microsoft YaHei"/>
              </a:rPr>
              <a:t>Function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173736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功能完善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92840" y="146304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3400" b="1">
                <a:solidFill>
                  <a:srgbClr val="E8CC6B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2331720"/>
            <a:ext cx="23774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明细报表与看板功能不完整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18320" y="292608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20" y="3063240"/>
            <a:ext cx="2377440" cy="2377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现有报表结构与展示能力尚未贴合战略管理诉求，缺少多维下钻、专题看板与移动端体验。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5303520"/>
            <a:ext cx="1097280" cy="292608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8320" y="5321808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C9A227"/>
                </a:solidFill>
                <a:latin typeface="Microsoft YaHei"/>
                <a:ea typeface="Microsoft YaHei"/>
              </a:rPr>
              <a:t>  影响 Impact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56235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体验不足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05 / 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26280" y="0"/>
            <a:ext cx="7315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0" b="1">
                <a:solidFill>
                  <a:srgbClr val="C9A227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spc="300">
                <a:solidFill>
                  <a:srgbClr val="E8CC6B"/>
                </a:solidFill>
                <a:latin typeface="Microsoft YaHei"/>
                <a:ea typeface="Microsoft YaHei"/>
              </a:rPr>
              <a:t>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68580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总体方案与技术架构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24612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100">
                <a:solidFill>
                  <a:srgbClr val="E8CC6B"/>
                </a:solidFill>
                <a:latin typeface="Microsoft YaHei"/>
                <a:ea typeface="Microsoft YaHei"/>
              </a:rPr>
              <a:t>Solution Blueprint &amp; Reference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840480"/>
            <a:ext cx="54864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4023360"/>
            <a:ext cx="6400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围绕“指标 / 对标 / 知识“三大数据资产，构建“采—算—管—用—智“五层一体的战略信息库平台，沉淀可复用的企业级数据 BI + AI 能力。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06 /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SOLUTION BLUEPRINT ·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解决方案蓝图：三库 + 一智能体，覆盖客户全部需求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07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100">
                <a:solidFill>
                  <a:srgbClr val="FFFFFF"/>
                </a:solidFill>
                <a:latin typeface="Microsoft YaHei"/>
                <a:ea typeface="Microsoft YaHei"/>
              </a:rPr>
              <a:t>ONE Platform · THREE Asset Libraries · FIVE-Layer Architecture · N AI Skills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94560"/>
            <a:ext cx="370332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3703320" cy="914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2468879"/>
            <a:ext cx="548640" cy="54864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05456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</a:rP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468879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4332"/>
                </a:solidFill>
                <a:latin typeface="Microsoft YaHei"/>
                <a:ea typeface="Microsoft YaHei"/>
              </a:rPr>
              <a:t>战略指标库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834639"/>
            <a:ext cx="2743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Strategic Indicator Library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246120"/>
            <a:ext cx="365760" cy="36576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383280"/>
            <a:ext cx="3291840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25000"/>
              </a:lnSpc>
            </a:pPr>
            <a:r>
              <a:rPr sz="1150" b="1">
                <a:solidFill>
                  <a:srgbClr val="1B4332"/>
                </a:solidFill>
                <a:latin typeface="Microsoft YaHei"/>
                <a:ea typeface="Microsoft YaHei"/>
              </a:rPr>
              <a:t>●  </a:t>
            </a:r>
            <a:r>
              <a:rPr sz="1150">
                <a:solidFill>
                  <a:srgbClr val="242D3A"/>
                </a:solidFill>
                <a:latin typeface="Microsoft YaHei"/>
                <a:ea typeface="Microsoft YaHei"/>
              </a:rPr>
              <a:t>30+ 明细报表、10 个专题看板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50" b="1">
                <a:solidFill>
                  <a:srgbClr val="1B4332"/>
                </a:solidFill>
                <a:latin typeface="Microsoft YaHei"/>
                <a:ea typeface="Microsoft YaHei"/>
              </a:rPr>
              <a:t>●  </a:t>
            </a:r>
            <a:r>
              <a:rPr sz="1150">
                <a:solidFill>
                  <a:srgbClr val="242D3A"/>
                </a:solidFill>
                <a:latin typeface="Microsoft YaHei"/>
                <a:ea typeface="Microsoft YaHei"/>
              </a:rPr>
              <a:t>指标定义 / 计算 / 版本 / 下钻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50" b="1">
                <a:solidFill>
                  <a:srgbClr val="1B4332"/>
                </a:solidFill>
                <a:latin typeface="Microsoft YaHei"/>
                <a:ea typeface="Microsoft YaHei"/>
              </a:rPr>
              <a:t>●  </a:t>
            </a:r>
            <a:r>
              <a:rPr sz="1150">
                <a:solidFill>
                  <a:srgbClr val="242D3A"/>
                </a:solidFill>
                <a:latin typeface="Microsoft YaHei"/>
                <a:ea typeface="Microsoft YaHei"/>
              </a:rPr>
              <a:t>覆盖收入、毛利、市占率、PCT、种质等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194560"/>
            <a:ext cx="370332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194560"/>
            <a:ext cx="3703320" cy="914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17720" y="2468879"/>
            <a:ext cx="548640" cy="548640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505456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</a:rPr>
              <a:t>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2468879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4332"/>
                </a:solidFill>
                <a:latin typeface="Microsoft YaHei"/>
                <a:ea typeface="Microsoft YaHei"/>
              </a:rPr>
              <a:t>对标数据库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2834639"/>
            <a:ext cx="2743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Benchmarking Database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3246120"/>
            <a:ext cx="365760" cy="36576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383280"/>
            <a:ext cx="3291840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25000"/>
              </a:lnSpc>
            </a:pPr>
            <a:r>
              <a:rPr sz="1150" b="1">
                <a:solidFill>
                  <a:srgbClr val="1A365D"/>
                </a:solidFill>
                <a:latin typeface="Microsoft YaHei"/>
                <a:ea typeface="Microsoft YaHei"/>
              </a:rPr>
              <a:t>●  </a:t>
            </a:r>
            <a:r>
              <a:rPr sz="1150">
                <a:solidFill>
                  <a:srgbClr val="242D3A"/>
                </a:solidFill>
                <a:latin typeface="Microsoft YaHei"/>
                <a:ea typeface="Microsoft YaHei"/>
              </a:rPr>
              <a:t>种业发展报告关键指标结构化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50" b="1">
                <a:solidFill>
                  <a:srgbClr val="1A365D"/>
                </a:solidFill>
                <a:latin typeface="Microsoft YaHei"/>
                <a:ea typeface="Microsoft YaHei"/>
              </a:rPr>
              <a:t>●  </a:t>
            </a:r>
            <a:r>
              <a:rPr sz="1150">
                <a:solidFill>
                  <a:srgbClr val="242D3A"/>
                </a:solidFill>
                <a:latin typeface="Microsoft YaHei"/>
                <a:ea typeface="Microsoft YaHei"/>
              </a:rPr>
              <a:t>Wind 全球竞争对手财务数据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50" b="1">
                <a:solidFill>
                  <a:srgbClr val="1A365D"/>
                </a:solidFill>
                <a:latin typeface="Microsoft YaHei"/>
                <a:ea typeface="Microsoft YaHei"/>
              </a:rPr>
              <a:t>●  </a:t>
            </a:r>
            <a:r>
              <a:rPr sz="1150">
                <a:solidFill>
                  <a:srgbClr val="242D3A"/>
                </a:solidFill>
                <a:latin typeface="Microsoft YaHei"/>
                <a:ea typeface="Microsoft YaHei"/>
              </a:rPr>
              <a:t>内外部融合对标看板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2194560"/>
            <a:ext cx="370332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2194560"/>
            <a:ext cx="3703320" cy="9144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49640" y="2468879"/>
            <a:ext cx="548640" cy="548640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2505456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</a:rPr>
              <a:t>III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19" y="2468879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4332"/>
                </a:solidFill>
                <a:latin typeface="Microsoft YaHei"/>
                <a:ea typeface="Microsoft YaHei"/>
              </a:rPr>
              <a:t>知识库 + AI 应用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19" y="2834639"/>
            <a:ext cx="2743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Knowledge Base &amp; AI Apps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49640" y="3246120"/>
            <a:ext cx="365760" cy="36576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383280"/>
            <a:ext cx="3291840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25000"/>
              </a:lnSpc>
            </a:pPr>
            <a:r>
              <a:rPr sz="1150" b="1">
                <a:solidFill>
                  <a:srgbClr val="2D6A4F"/>
                </a:solidFill>
                <a:latin typeface="Microsoft YaHei"/>
                <a:ea typeface="Microsoft YaHei"/>
              </a:rPr>
              <a:t>●  </a:t>
            </a:r>
            <a:r>
              <a:rPr sz="1150">
                <a:solidFill>
                  <a:srgbClr val="242D3A"/>
                </a:solidFill>
                <a:latin typeface="Microsoft YaHei"/>
                <a:ea typeface="Microsoft YaHei"/>
              </a:rPr>
              <a:t>资讯爬取 + AI 自动分类打标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50" b="1">
                <a:solidFill>
                  <a:srgbClr val="2D6A4F"/>
                </a:solidFill>
                <a:latin typeface="Microsoft YaHei"/>
                <a:ea typeface="Microsoft YaHei"/>
              </a:rPr>
              <a:t>●  </a:t>
            </a:r>
            <a:r>
              <a:rPr sz="1150">
                <a:solidFill>
                  <a:srgbClr val="242D3A"/>
                </a:solidFill>
                <a:latin typeface="Microsoft YaHei"/>
                <a:ea typeface="Microsoft YaHei"/>
              </a:rPr>
              <a:t>报告统一上传 + RAG 知识化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50" b="1">
                <a:solidFill>
                  <a:srgbClr val="2D6A4F"/>
                </a:solidFill>
                <a:latin typeface="Microsoft YaHei"/>
                <a:ea typeface="Microsoft YaHei"/>
              </a:rPr>
              <a:t>●  </a:t>
            </a:r>
            <a:r>
              <a:rPr sz="1150">
                <a:solidFill>
                  <a:srgbClr val="242D3A"/>
                </a:solidFill>
                <a:latin typeface="Microsoft YaHei"/>
                <a:ea typeface="Microsoft YaHei"/>
              </a:rPr>
              <a:t>智能问答 + 日报/专题报告生成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4000"/>
            </a:avLst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4068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4332"/>
                </a:solidFill>
                <a:latin typeface="Microsoft YaHei"/>
                <a:ea typeface="Microsoft YaHei"/>
              </a:rPr>
              <a:t>统一能力底座 · One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779008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42D3A"/>
                </a:solidFill>
                <a:latin typeface="Microsoft YaHei"/>
                <a:ea typeface="Microsoft YaHei"/>
              </a:rPr>
              <a:t>永洪 BI · Aliyun DataWorks · MySQL · OSS · Function Compute · 魔笔低代码 · 百炼大模型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07 / 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REFERENCE ARCHITECTURE ·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总体技术架构：采 — 算 — 管 — 用 — 智 五层一体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08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828800" cy="7772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20">
                <a:solidFill>
                  <a:srgbClr val="FFFFFF"/>
                </a:solidFill>
                <a:latin typeface="Microsoft YaHei"/>
                <a:ea typeface="Microsoft YaHei"/>
              </a:rPr>
              <a:t>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19072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01 数据源层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1371600"/>
            <a:ext cx="7406640" cy="777240"/>
          </a:xfrm>
          <a:prstGeom prst="rect">
            <a:avLst/>
          </a:prstGeom>
          <a:solidFill>
            <a:srgbClr val="F8FAF7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23160" y="1618488"/>
            <a:ext cx="164592" cy="164592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572768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内部业务系统 / ERP / OA</a:t>
            </a:r>
          </a:p>
        </p:txBody>
      </p:sp>
      <p:sp>
        <p:nvSpPr>
          <p:cNvPr id="16" name="Oval 15"/>
          <p:cNvSpPr/>
          <p:nvPr/>
        </p:nvSpPr>
        <p:spPr>
          <a:xfrm>
            <a:off x="4251960" y="1618488"/>
            <a:ext cx="164592" cy="164592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572768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Wind 数据库</a:t>
            </a:r>
          </a:p>
        </p:txBody>
      </p:sp>
      <p:sp>
        <p:nvSpPr>
          <p:cNvPr id="18" name="Oval 17"/>
          <p:cNvSpPr/>
          <p:nvPr/>
        </p:nvSpPr>
        <p:spPr>
          <a:xfrm>
            <a:off x="6080760" y="1618488"/>
            <a:ext cx="164592" cy="164592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72768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公开网站 / 公众号</a:t>
            </a:r>
          </a:p>
        </p:txBody>
      </p:sp>
      <p:sp>
        <p:nvSpPr>
          <p:cNvPr id="20" name="Oval 19"/>
          <p:cNvSpPr/>
          <p:nvPr/>
        </p:nvSpPr>
        <p:spPr>
          <a:xfrm>
            <a:off x="7909560" y="1618488"/>
            <a:ext cx="164592" cy="164592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572768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Excel 手工填报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194560"/>
            <a:ext cx="1828800" cy="777240"/>
          </a:xfrm>
          <a:prstGeom prst="rect">
            <a:avLst/>
          </a:prstGeom>
          <a:solidFill>
            <a:srgbClr val="2C5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304288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20">
                <a:solidFill>
                  <a:srgbClr val="FFFFFF"/>
                </a:solidFill>
                <a:latin typeface="Microsoft YaHei"/>
                <a:ea typeface="Microsoft YaHei"/>
              </a:rPr>
              <a:t>INGEST · DataWorks + FC + 爬虫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542032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02 数据采集与集成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2194560"/>
            <a:ext cx="7406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23160" y="2441448"/>
            <a:ext cx="164592" cy="164592"/>
          </a:xfrm>
          <a:prstGeom prst="ellipse">
            <a:avLst/>
          </a:prstGeom>
          <a:solidFill>
            <a:srgbClr val="2C5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2395728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数据库直连抽取 (CDC/批量)</a:t>
            </a:r>
          </a:p>
        </p:txBody>
      </p:sp>
      <p:sp>
        <p:nvSpPr>
          <p:cNvPr id="28" name="Oval 27"/>
          <p:cNvSpPr/>
          <p:nvPr/>
        </p:nvSpPr>
        <p:spPr>
          <a:xfrm>
            <a:off x="4251960" y="2441448"/>
            <a:ext cx="164592" cy="164592"/>
          </a:xfrm>
          <a:prstGeom prst="ellipse">
            <a:avLst/>
          </a:prstGeom>
          <a:solidFill>
            <a:srgbClr val="2C5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2395728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API / 接口对接 + 异常重试</a:t>
            </a:r>
          </a:p>
        </p:txBody>
      </p:sp>
      <p:sp>
        <p:nvSpPr>
          <p:cNvPr id="30" name="Oval 29"/>
          <p:cNvSpPr/>
          <p:nvPr/>
        </p:nvSpPr>
        <p:spPr>
          <a:xfrm>
            <a:off x="6080760" y="2441448"/>
            <a:ext cx="164592" cy="164592"/>
          </a:xfrm>
          <a:prstGeom prst="ellipse">
            <a:avLst/>
          </a:prstGeom>
          <a:solidFill>
            <a:srgbClr val="2C5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395728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Function Compute 爬虫</a:t>
            </a:r>
          </a:p>
        </p:txBody>
      </p:sp>
      <p:sp>
        <p:nvSpPr>
          <p:cNvPr id="32" name="Oval 31"/>
          <p:cNvSpPr/>
          <p:nvPr/>
        </p:nvSpPr>
        <p:spPr>
          <a:xfrm>
            <a:off x="7909560" y="2441448"/>
            <a:ext cx="164592" cy="164592"/>
          </a:xfrm>
          <a:prstGeom prst="ellipse">
            <a:avLst/>
          </a:prstGeom>
          <a:solidFill>
            <a:srgbClr val="2C5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2395728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Excel 模板批量导入与校验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017520"/>
            <a:ext cx="1828800" cy="77724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127248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20">
                <a:solidFill>
                  <a:srgbClr val="FFFFFF"/>
                </a:solidFill>
                <a:latin typeface="Microsoft YaHei"/>
                <a:ea typeface="Microsoft YaHei"/>
              </a:rPr>
              <a:t>STORAGE · MySQL + OSS + DataWorks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364991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03 数据存储与计算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31720" y="3017520"/>
            <a:ext cx="7406640" cy="777240"/>
          </a:xfrm>
          <a:prstGeom prst="rect">
            <a:avLst/>
          </a:prstGeom>
          <a:solidFill>
            <a:srgbClr val="F8FAF7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423160" y="3264408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3218688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ODS / DWD / DWS 分层建模</a:t>
            </a:r>
          </a:p>
        </p:txBody>
      </p:sp>
      <p:sp>
        <p:nvSpPr>
          <p:cNvPr id="40" name="Oval 39"/>
          <p:cNvSpPr/>
          <p:nvPr/>
        </p:nvSpPr>
        <p:spPr>
          <a:xfrm>
            <a:off x="4251960" y="3264408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3218688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OSS 对象存储 — 文档与素材</a:t>
            </a:r>
          </a:p>
        </p:txBody>
      </p:sp>
      <p:sp>
        <p:nvSpPr>
          <p:cNvPr id="42" name="Oval 41"/>
          <p:cNvSpPr/>
          <p:nvPr/>
        </p:nvSpPr>
        <p:spPr>
          <a:xfrm>
            <a:off x="6080760" y="3264408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218688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DataWorks 调度 + 数据质量</a:t>
            </a:r>
          </a:p>
        </p:txBody>
      </p:sp>
      <p:sp>
        <p:nvSpPr>
          <p:cNvPr id="44" name="Oval 43"/>
          <p:cNvSpPr/>
          <p:nvPr/>
        </p:nvSpPr>
        <p:spPr>
          <a:xfrm>
            <a:off x="7909560" y="3264408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3218688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向量数据库 — 知识检索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840480"/>
            <a:ext cx="1828800" cy="7772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950208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20">
                <a:solidFill>
                  <a:srgbClr val="FFFFFF"/>
                </a:solidFill>
                <a:latin typeface="Microsoft YaHei"/>
                <a:ea typeface="Microsoft YaHei"/>
              </a:rPr>
              <a:t>METRICS · 治理 +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187952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04 指标与服务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31720" y="3840480"/>
            <a:ext cx="74066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423160" y="4087368"/>
            <a:ext cx="164592" cy="16459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51760" y="4041648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指标体系 (定义/计算/版本)</a:t>
            </a:r>
          </a:p>
        </p:txBody>
      </p:sp>
      <p:sp>
        <p:nvSpPr>
          <p:cNvPr id="52" name="Oval 51"/>
          <p:cNvSpPr/>
          <p:nvPr/>
        </p:nvSpPr>
        <p:spPr>
          <a:xfrm>
            <a:off x="4251960" y="4087368"/>
            <a:ext cx="164592" cy="16459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0560" y="4041648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指标 API 服务 + 缓存层</a:t>
            </a:r>
          </a:p>
        </p:txBody>
      </p:sp>
      <p:sp>
        <p:nvSpPr>
          <p:cNvPr id="54" name="Oval 53"/>
          <p:cNvSpPr/>
          <p:nvPr/>
        </p:nvSpPr>
        <p:spPr>
          <a:xfrm>
            <a:off x="6080760" y="4087368"/>
            <a:ext cx="164592" cy="16459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4041648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权限 / 行列级数据安全</a:t>
            </a:r>
          </a:p>
        </p:txBody>
      </p:sp>
      <p:sp>
        <p:nvSpPr>
          <p:cNvPr id="56" name="Oval 55"/>
          <p:cNvSpPr/>
          <p:nvPr/>
        </p:nvSpPr>
        <p:spPr>
          <a:xfrm>
            <a:off x="7909560" y="4087368"/>
            <a:ext cx="164592" cy="16459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38160" y="4041648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数据备份与恢复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663440"/>
            <a:ext cx="1828800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773168"/>
            <a:ext cx="1645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20">
                <a:solidFill>
                  <a:srgbClr val="FFFFFF"/>
                </a:solidFill>
                <a:latin typeface="Microsoft YaHei"/>
                <a:ea typeface="Microsoft YaHei"/>
              </a:rPr>
              <a:t>APPLICATIONS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010912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05 应用与 AI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331720" y="4663440"/>
            <a:ext cx="7406640" cy="777240"/>
          </a:xfrm>
          <a:prstGeom prst="rect">
            <a:avLst/>
          </a:prstGeom>
          <a:solidFill>
            <a:srgbClr val="F8FAF7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423160" y="4910327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51760" y="4864607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永洪 BI 看板 (10 专题)</a:t>
            </a:r>
          </a:p>
        </p:txBody>
      </p:sp>
      <p:sp>
        <p:nvSpPr>
          <p:cNvPr id="64" name="Oval 63"/>
          <p:cNvSpPr/>
          <p:nvPr/>
        </p:nvSpPr>
        <p:spPr>
          <a:xfrm>
            <a:off x="4251960" y="4910327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80560" y="4864607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魔笔低代码门户 + 移动端</a:t>
            </a:r>
          </a:p>
        </p:txBody>
      </p:sp>
      <p:sp>
        <p:nvSpPr>
          <p:cNvPr id="66" name="Oval 65"/>
          <p:cNvSpPr/>
          <p:nvPr/>
        </p:nvSpPr>
        <p:spPr>
          <a:xfrm>
            <a:off x="6080760" y="4910327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0" y="4864607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百炼大模型 RAG 智能问答</a:t>
            </a:r>
          </a:p>
        </p:txBody>
      </p:sp>
      <p:sp>
        <p:nvSpPr>
          <p:cNvPr id="68" name="Oval 67"/>
          <p:cNvSpPr/>
          <p:nvPr/>
        </p:nvSpPr>
        <p:spPr>
          <a:xfrm>
            <a:off x="7909560" y="4910327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38160" y="4864607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自动化报告 (日/周/专题)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784080" y="1371600"/>
            <a:ext cx="1920240" cy="4160520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21240" y="146304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20">
                <a:solidFill>
                  <a:srgbClr val="E8CC6B"/>
                </a:solidFill>
                <a:latin typeface="Microsoft YaHei"/>
                <a:ea typeface="Microsoft YaHei"/>
              </a:rPr>
              <a:t>贯 穿 能 力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21240" y="1783080"/>
            <a:ext cx="17373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E8CC6B"/>
                </a:solidFill>
                <a:latin typeface="Microsoft YaHei"/>
                <a:ea typeface="Microsoft YaHei"/>
              </a:rPr>
              <a:t>Cross-cutting</a:t>
            </a:r>
          </a:p>
        </p:txBody>
      </p:sp>
      <p:sp>
        <p:nvSpPr>
          <p:cNvPr id="73" name="Oval 72"/>
          <p:cNvSpPr/>
          <p:nvPr/>
        </p:nvSpPr>
        <p:spPr>
          <a:xfrm>
            <a:off x="9921240" y="2286000"/>
            <a:ext cx="128016" cy="12801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04120" y="219456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统一安全合规</a:t>
            </a:r>
          </a:p>
        </p:txBody>
      </p:sp>
      <p:sp>
        <p:nvSpPr>
          <p:cNvPr id="75" name="Oval 74"/>
          <p:cNvSpPr/>
          <p:nvPr/>
        </p:nvSpPr>
        <p:spPr>
          <a:xfrm>
            <a:off x="9921240" y="2743200"/>
            <a:ext cx="128016" cy="12801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04120" y="265176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统一调度监控</a:t>
            </a:r>
          </a:p>
        </p:txBody>
      </p:sp>
      <p:sp>
        <p:nvSpPr>
          <p:cNvPr id="77" name="Oval 76"/>
          <p:cNvSpPr/>
          <p:nvPr/>
        </p:nvSpPr>
        <p:spPr>
          <a:xfrm>
            <a:off x="9921240" y="3200400"/>
            <a:ext cx="128016" cy="12801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04120" y="310896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统一权限中心</a:t>
            </a:r>
          </a:p>
        </p:txBody>
      </p:sp>
      <p:sp>
        <p:nvSpPr>
          <p:cNvPr id="79" name="Oval 78"/>
          <p:cNvSpPr/>
          <p:nvPr/>
        </p:nvSpPr>
        <p:spPr>
          <a:xfrm>
            <a:off x="9921240" y="3657600"/>
            <a:ext cx="128016" cy="12801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104120" y="356616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数据质量治理</a:t>
            </a:r>
          </a:p>
        </p:txBody>
      </p:sp>
      <p:sp>
        <p:nvSpPr>
          <p:cNvPr id="81" name="Oval 80"/>
          <p:cNvSpPr/>
          <p:nvPr/>
        </p:nvSpPr>
        <p:spPr>
          <a:xfrm>
            <a:off x="9921240" y="4114800"/>
            <a:ext cx="128016" cy="12801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04120" y="402336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运维与告警</a:t>
            </a:r>
          </a:p>
        </p:txBody>
      </p:sp>
      <p:sp>
        <p:nvSpPr>
          <p:cNvPr id="83" name="Oval 82"/>
          <p:cNvSpPr/>
          <p:nvPr/>
        </p:nvSpPr>
        <p:spPr>
          <a:xfrm>
            <a:off x="9921240" y="4572000"/>
            <a:ext cx="128016" cy="12801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104120" y="4480560"/>
            <a:ext cx="1554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灰度与高可用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56692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5800" y="57607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4332"/>
                </a:solidFill>
                <a:latin typeface="Microsoft YaHei"/>
                <a:ea typeface="Microsoft YaHei"/>
              </a:rPr>
              <a:t>★ 全部组件优先复用客户既有平台：永洪 BI · DataWorks · MySQL · OSS · Function Compute · 魔笔低代码 · 百炼大模型，最大化保护既有投资。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08 / 25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DATA ARCHITECTURE · 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数据架构：DataWorks 调度的端到端数据流水线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09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2121408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2121408" cy="64008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54480"/>
            <a:ext cx="1847088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120">
                <a:solidFill>
                  <a:srgbClr val="FFFFFF"/>
                </a:solidFill>
                <a:latin typeface="Microsoft YaHei"/>
                <a:ea typeface="Microsoft YaHei"/>
              </a:rPr>
              <a:t>DATA
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828800"/>
            <a:ext cx="1847088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数据源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377439"/>
            <a:ext cx="109728" cy="109728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286000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业务库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2670047"/>
            <a:ext cx="109728" cy="109728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578608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Wind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2962656"/>
            <a:ext cx="109728" cy="109728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871216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网站/公众号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255263"/>
            <a:ext cx="109728" cy="109728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163824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Excel/OSS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679191" y="2542032"/>
            <a:ext cx="146304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34640" y="1508760"/>
            <a:ext cx="2121408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34640" y="1508760"/>
            <a:ext cx="2121408" cy="640080"/>
          </a:xfrm>
          <a:prstGeom prst="rect">
            <a:avLst/>
          </a:prstGeom>
          <a:solidFill>
            <a:srgbClr val="2C5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1554480"/>
            <a:ext cx="1847088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120">
                <a:solidFill>
                  <a:srgbClr val="FFFFFF"/>
                </a:solidFill>
                <a:latin typeface="Microsoft YaHei"/>
                <a:ea typeface="Microsoft YaHei"/>
              </a:rPr>
              <a:t>INGEST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1828800"/>
            <a:ext cx="1847088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采集层</a:t>
            </a:r>
          </a:p>
        </p:txBody>
      </p:sp>
      <p:sp>
        <p:nvSpPr>
          <p:cNvPr id="27" name="Oval 26"/>
          <p:cNvSpPr/>
          <p:nvPr/>
        </p:nvSpPr>
        <p:spPr>
          <a:xfrm>
            <a:off x="3017520" y="2377439"/>
            <a:ext cx="109728" cy="109728"/>
          </a:xfrm>
          <a:prstGeom prst="ellipse">
            <a:avLst/>
          </a:prstGeom>
          <a:solidFill>
            <a:srgbClr val="2C5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2286000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DataWorks</a:t>
            </a:r>
          </a:p>
        </p:txBody>
      </p:sp>
      <p:sp>
        <p:nvSpPr>
          <p:cNvPr id="29" name="Oval 28"/>
          <p:cNvSpPr/>
          <p:nvPr/>
        </p:nvSpPr>
        <p:spPr>
          <a:xfrm>
            <a:off x="3017520" y="2670047"/>
            <a:ext cx="109728" cy="109728"/>
          </a:xfrm>
          <a:prstGeom prst="ellipse">
            <a:avLst/>
          </a:prstGeom>
          <a:solidFill>
            <a:srgbClr val="2C5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2578608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FC 爬虫</a:t>
            </a:r>
          </a:p>
        </p:txBody>
      </p:sp>
      <p:sp>
        <p:nvSpPr>
          <p:cNvPr id="31" name="Oval 30"/>
          <p:cNvSpPr/>
          <p:nvPr/>
        </p:nvSpPr>
        <p:spPr>
          <a:xfrm>
            <a:off x="3017520" y="2962656"/>
            <a:ext cx="109728" cy="109728"/>
          </a:xfrm>
          <a:prstGeom prst="ellipse">
            <a:avLst/>
          </a:prstGeom>
          <a:solidFill>
            <a:srgbClr val="2C5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2871216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API 对接</a:t>
            </a:r>
          </a:p>
        </p:txBody>
      </p:sp>
      <p:sp>
        <p:nvSpPr>
          <p:cNvPr id="33" name="Oval 32"/>
          <p:cNvSpPr/>
          <p:nvPr/>
        </p:nvSpPr>
        <p:spPr>
          <a:xfrm>
            <a:off x="3017520" y="3255263"/>
            <a:ext cx="109728" cy="109728"/>
          </a:xfrm>
          <a:prstGeom prst="ellipse">
            <a:avLst/>
          </a:prstGeom>
          <a:solidFill>
            <a:srgbClr val="2C5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3163824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导入校验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965192" y="2542032"/>
            <a:ext cx="146304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120640" y="1508760"/>
            <a:ext cx="2121408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20640" y="1508760"/>
            <a:ext cx="2121408" cy="6400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57800" y="1554480"/>
            <a:ext cx="1847088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120">
                <a:solidFill>
                  <a:srgbClr val="FFFFFF"/>
                </a:solidFill>
                <a:latin typeface="Microsoft YaHei"/>
                <a:ea typeface="Microsoft YaHei"/>
              </a:rPr>
              <a:t>STORE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1828800"/>
            <a:ext cx="1847088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存储层</a:t>
            </a:r>
          </a:p>
        </p:txBody>
      </p:sp>
      <p:sp>
        <p:nvSpPr>
          <p:cNvPr id="40" name="Oval 39"/>
          <p:cNvSpPr/>
          <p:nvPr/>
        </p:nvSpPr>
        <p:spPr>
          <a:xfrm>
            <a:off x="5303520" y="2377439"/>
            <a:ext cx="109728" cy="10972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2286000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ODS</a:t>
            </a:r>
          </a:p>
        </p:txBody>
      </p:sp>
      <p:sp>
        <p:nvSpPr>
          <p:cNvPr id="42" name="Oval 41"/>
          <p:cNvSpPr/>
          <p:nvPr/>
        </p:nvSpPr>
        <p:spPr>
          <a:xfrm>
            <a:off x="5303520" y="2670047"/>
            <a:ext cx="109728" cy="10972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0" y="2578608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DWD</a:t>
            </a:r>
          </a:p>
        </p:txBody>
      </p:sp>
      <p:sp>
        <p:nvSpPr>
          <p:cNvPr id="44" name="Oval 43"/>
          <p:cNvSpPr/>
          <p:nvPr/>
        </p:nvSpPr>
        <p:spPr>
          <a:xfrm>
            <a:off x="5303520" y="2962656"/>
            <a:ext cx="109728" cy="10972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0" y="2871216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DWS</a:t>
            </a:r>
          </a:p>
        </p:txBody>
      </p:sp>
      <p:sp>
        <p:nvSpPr>
          <p:cNvPr id="46" name="Oval 45"/>
          <p:cNvSpPr/>
          <p:nvPr/>
        </p:nvSpPr>
        <p:spPr>
          <a:xfrm>
            <a:off x="5303520" y="3255263"/>
            <a:ext cx="109728" cy="10972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0" y="3163824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向量库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7251192" y="2542032"/>
            <a:ext cx="146304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406640" y="1508760"/>
            <a:ext cx="2121408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06640" y="1508760"/>
            <a:ext cx="2121408" cy="6400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43800" y="1554480"/>
            <a:ext cx="1847088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120">
                <a:solidFill>
                  <a:srgbClr val="FFFFFF"/>
                </a:solidFill>
                <a:latin typeface="Microsoft YaHei"/>
                <a:ea typeface="Microsoft YaHei"/>
              </a:rPr>
              <a:t>SERVE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3800" y="1828800"/>
            <a:ext cx="1847088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服务层</a:t>
            </a:r>
          </a:p>
        </p:txBody>
      </p:sp>
      <p:sp>
        <p:nvSpPr>
          <p:cNvPr id="53" name="Oval 52"/>
          <p:cNvSpPr/>
          <p:nvPr/>
        </p:nvSpPr>
        <p:spPr>
          <a:xfrm>
            <a:off x="7589519" y="2377439"/>
            <a:ext cx="109728" cy="109728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0" y="2286000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指标 API</a:t>
            </a:r>
          </a:p>
        </p:txBody>
      </p:sp>
      <p:sp>
        <p:nvSpPr>
          <p:cNvPr id="55" name="Oval 54"/>
          <p:cNvSpPr/>
          <p:nvPr/>
        </p:nvSpPr>
        <p:spPr>
          <a:xfrm>
            <a:off x="7589519" y="2670047"/>
            <a:ext cx="109728" cy="109728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0" y="2578608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BI 数据集</a:t>
            </a:r>
          </a:p>
        </p:txBody>
      </p:sp>
      <p:sp>
        <p:nvSpPr>
          <p:cNvPr id="57" name="Oval 56"/>
          <p:cNvSpPr/>
          <p:nvPr/>
        </p:nvSpPr>
        <p:spPr>
          <a:xfrm>
            <a:off x="7589519" y="2962656"/>
            <a:ext cx="109728" cy="109728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0" y="2871216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RAG 检索</a:t>
            </a:r>
          </a:p>
        </p:txBody>
      </p:sp>
      <p:sp>
        <p:nvSpPr>
          <p:cNvPr id="59" name="Oval 58"/>
          <p:cNvSpPr/>
          <p:nvPr/>
        </p:nvSpPr>
        <p:spPr>
          <a:xfrm>
            <a:off x="7589519" y="3255263"/>
            <a:ext cx="109728" cy="109728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0" y="3163824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权限网关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9537192" y="2542032"/>
            <a:ext cx="146304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692640" y="1508760"/>
            <a:ext cx="2121408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692640" y="1508760"/>
            <a:ext cx="2121408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29800" y="1554480"/>
            <a:ext cx="1847088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120">
                <a:solidFill>
                  <a:srgbClr val="FFFFFF"/>
                </a:solidFill>
                <a:latin typeface="Microsoft YaHei"/>
                <a:ea typeface="Microsoft YaHei"/>
              </a:rPr>
              <a:t>CONSUME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29800" y="1828800"/>
            <a:ext cx="1847088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消费层</a:t>
            </a:r>
          </a:p>
        </p:txBody>
      </p:sp>
      <p:sp>
        <p:nvSpPr>
          <p:cNvPr id="66" name="Oval 65"/>
          <p:cNvSpPr/>
          <p:nvPr/>
        </p:nvSpPr>
        <p:spPr>
          <a:xfrm>
            <a:off x="9875519" y="2377439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58400" y="2286000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BI 看板</a:t>
            </a:r>
          </a:p>
        </p:txBody>
      </p:sp>
      <p:sp>
        <p:nvSpPr>
          <p:cNvPr id="68" name="Oval 67"/>
          <p:cNvSpPr/>
          <p:nvPr/>
        </p:nvSpPr>
        <p:spPr>
          <a:xfrm>
            <a:off x="9875519" y="2670047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58400" y="2578608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AI 问答</a:t>
            </a:r>
          </a:p>
        </p:txBody>
      </p:sp>
      <p:sp>
        <p:nvSpPr>
          <p:cNvPr id="70" name="Oval 69"/>
          <p:cNvSpPr/>
          <p:nvPr/>
        </p:nvSpPr>
        <p:spPr>
          <a:xfrm>
            <a:off x="9875519" y="2962656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58400" y="2871216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自动报告</a:t>
            </a:r>
          </a:p>
        </p:txBody>
      </p:sp>
      <p:sp>
        <p:nvSpPr>
          <p:cNvPr id="72" name="Oval 71"/>
          <p:cNvSpPr/>
          <p:nvPr/>
        </p:nvSpPr>
        <p:spPr>
          <a:xfrm>
            <a:off x="9875519" y="3255263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058400" y="3163824"/>
            <a:ext cx="170992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门户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48640" y="3931920"/>
            <a:ext cx="3657600" cy="150876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" y="40690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数据质量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" y="4480559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7240" y="45720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CC6B"/>
                </a:solidFill>
                <a:latin typeface="Microsoft YaHei"/>
                <a:ea typeface="Microsoft YaHei"/>
              </a:rPr>
              <a:t>DQ Rules · 校验规则 · 异常告警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49377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完整性 · 准确性 · 一致性 · 及时性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370831" y="3931920"/>
            <a:ext cx="3657600" cy="150876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99431" y="40690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数据安全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99431" y="4480559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99431" y="45720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CC6B"/>
                </a:solidFill>
                <a:latin typeface="Microsoft YaHei"/>
                <a:ea typeface="Microsoft YaHei"/>
              </a:rPr>
              <a:t>权限分级 · 行列级脱敏 · 审计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99431" y="49377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ISO 27001 · 等保 2.0 · 信通院规范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193023" y="3931920"/>
            <a:ext cx="3657600" cy="150876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21624" y="40690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数据治理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21624" y="4480559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21624" y="457200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CC6B"/>
                </a:solidFill>
                <a:latin typeface="Microsoft YaHei"/>
                <a:ea typeface="Microsoft YaHei"/>
              </a:rPr>
              <a:t>指标版本 · 元数据 · 资产目录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21624" y="493776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可发现 · 可追溯 · 可信赖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09 / 25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26280" y="0"/>
            <a:ext cx="7315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0" b="1">
                <a:solidFill>
                  <a:srgbClr val="C9A227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spc="300">
                <a:solidFill>
                  <a:srgbClr val="E8CC6B"/>
                </a:solidFill>
                <a:latin typeface="Microsoft YaHei"/>
                <a:ea typeface="Microsoft YaHei"/>
              </a:rPr>
              <a:t>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68580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三大资产库设计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24612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100">
                <a:solidFill>
                  <a:srgbClr val="E8CC6B"/>
                </a:solidFill>
                <a:latin typeface="Microsoft YaHei"/>
                <a:ea typeface="Microsoft YaHei"/>
              </a:rPr>
              <a:t>Indicator · Benchmark · Knowledge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840480"/>
            <a:ext cx="54864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4023360"/>
            <a:ext cx="6400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围绕客户三类核心数据资产，分别设计治理框架、采集策略、存储模型与展示方案，确保“指标可用、对标可比、知识可问”。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10 /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PILLAR 1 · 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战略指标库：30+ 明细报表 / 10 个专题看板 / 全口径治理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11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战略指标域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5943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Indicator Domain 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57400"/>
            <a:ext cx="73152" cy="73152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057400"/>
            <a:ext cx="2788920" cy="73152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30552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B4332"/>
                </a:solidFill>
                <a:latin typeface="Microsoft YaHei"/>
                <a:ea typeface="Microsoft YaHei"/>
              </a:rPr>
              <a:t>财务指标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41448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收入 / 毛利 / 净利 / ROE / 现金流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057400"/>
            <a:ext cx="73152" cy="7315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38728" y="2057400"/>
            <a:ext cx="2788920" cy="73152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2130552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D6A4F"/>
                </a:solidFill>
                <a:latin typeface="Microsoft YaHei"/>
                <a:ea typeface="Microsoft YaHei"/>
              </a:rPr>
              <a:t>市场指标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441448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市占率 / 销量 / 价格 / 渠道结构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26080"/>
            <a:ext cx="73152" cy="7315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2926080"/>
            <a:ext cx="2788920" cy="73152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999232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A365D"/>
                </a:solidFill>
                <a:latin typeface="Microsoft YaHei"/>
                <a:ea typeface="Microsoft YaHei"/>
              </a:rPr>
              <a:t>研发指标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310128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PCT 专利 / R&amp;D 投入 / 项目数 / 转化率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2926080"/>
            <a:ext cx="73152" cy="731520"/>
          </a:xfrm>
          <a:prstGeom prst="rect">
            <a:avLst/>
          </a:prstGeom>
          <a:solidFill>
            <a:srgbClr val="2C5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38728" y="2926080"/>
            <a:ext cx="2788920" cy="73152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2999232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C5C9B"/>
                </a:solidFill>
                <a:latin typeface="Microsoft YaHei"/>
                <a:ea typeface="Microsoft YaHei"/>
              </a:rPr>
              <a:t>种质资源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310128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引进数 / 库存数 / 入库率 / 利用率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94760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3794760"/>
            <a:ext cx="2788920" cy="73152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67912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C9A227"/>
                </a:solidFill>
                <a:latin typeface="Microsoft YaHei"/>
                <a:ea typeface="Microsoft YaHei"/>
              </a:rPr>
              <a:t>外部数据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178808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常规品种审定 / TOP 产品清单 / 行业榜单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3794760"/>
            <a:ext cx="73152" cy="73152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38728" y="3794760"/>
            <a:ext cx="2788920" cy="73152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67912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52B788"/>
                </a:solidFill>
                <a:latin typeface="Microsoft YaHei"/>
                <a:ea typeface="Microsoft YaHei"/>
              </a:rPr>
              <a:t>运营指标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4178808"/>
            <a:ext cx="26060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产能利用率 / 库存周转 / 履约时效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13716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指标全生命周期治理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169164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Indicator Lifecycle Governance</a:t>
            </a:r>
          </a:p>
        </p:txBody>
      </p:sp>
      <p:sp>
        <p:nvSpPr>
          <p:cNvPr id="38" name="Oval 37"/>
          <p:cNvSpPr/>
          <p:nvPr/>
        </p:nvSpPr>
        <p:spPr>
          <a:xfrm>
            <a:off x="6675120" y="2103120"/>
            <a:ext cx="713232" cy="71323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2267712"/>
            <a:ext cx="71323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2852927"/>
            <a:ext cx="71323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Calibri"/>
                <a:ea typeface="Calibri"/>
              </a:rPr>
              <a:t>01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88352" y="2459736"/>
            <a:ext cx="13716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525512" y="2103120"/>
            <a:ext cx="713232" cy="71323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2267712"/>
            <a:ext cx="71323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口径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25512" y="2852927"/>
            <a:ext cx="71323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Calibri"/>
                <a:ea typeface="Calibri"/>
              </a:rPr>
              <a:t>02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238744" y="2459736"/>
            <a:ext cx="13716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375904" y="2103120"/>
            <a:ext cx="713232" cy="71323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75904" y="2267712"/>
            <a:ext cx="71323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计算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5904" y="2852927"/>
            <a:ext cx="71323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Calibri"/>
                <a:ea typeface="Calibri"/>
              </a:rPr>
              <a:t>03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089136" y="2459736"/>
            <a:ext cx="13716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9226296" y="2103120"/>
            <a:ext cx="713232" cy="71323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26296" y="2267712"/>
            <a:ext cx="71323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存储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26296" y="2852927"/>
            <a:ext cx="71323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Calibri"/>
                <a:ea typeface="Calibri"/>
              </a:rPr>
              <a:t>04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939528" y="2459736"/>
            <a:ext cx="13716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0076688" y="2103120"/>
            <a:ext cx="713232" cy="71323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76688" y="2267712"/>
            <a:ext cx="71323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服务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76688" y="2852927"/>
            <a:ext cx="71323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Calibri"/>
                <a:ea typeface="Calibri"/>
              </a:rPr>
              <a:t>05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789919" y="2459736"/>
            <a:ext cx="137161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10927080" y="2103120"/>
            <a:ext cx="713232" cy="71323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27080" y="2267712"/>
            <a:ext cx="71323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监控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27080" y="2852927"/>
            <a:ext cx="71323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75120" y="3200400"/>
            <a:ext cx="237744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675120" y="3200400"/>
            <a:ext cx="54864" cy="685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0" y="3273552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4332"/>
                </a:solidFill>
                <a:latin typeface="Microsoft YaHei"/>
                <a:ea typeface="Microsoft YaHei"/>
              </a:rPr>
              <a:t>指标定义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3566160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名称 / 说明 / 计算逻辑 / 数据来源 配置化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17152" y="3200400"/>
            <a:ext cx="237744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217152" y="3200400"/>
            <a:ext cx="54864" cy="685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00032" y="3273552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4332"/>
                </a:solidFill>
                <a:latin typeface="Microsoft YaHei"/>
                <a:ea typeface="Microsoft YaHei"/>
              </a:rPr>
              <a:t>版本管理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00032" y="3566160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口径变更记录 + 历史数据存储与追溯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675120" y="3977639"/>
            <a:ext cx="237744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75120" y="3977639"/>
            <a:ext cx="54864" cy="685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0" y="4050791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4332"/>
                </a:solidFill>
                <a:latin typeface="Microsoft YaHei"/>
                <a:ea typeface="Microsoft YaHei"/>
              </a:rPr>
              <a:t>分层下钻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0" y="4343400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总览 → 专题 → 明细 → 个体记录 4 级穿透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217152" y="3977639"/>
            <a:ext cx="237744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17152" y="3977639"/>
            <a:ext cx="54864" cy="685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00032" y="4050791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4332"/>
                </a:solidFill>
                <a:latin typeface="Microsoft YaHei"/>
                <a:ea typeface="Microsoft YaHei"/>
              </a:rPr>
              <a:t>自动计算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00032" y="4343400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DataWorks 调度 + 多数据源 + 增量回写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4983480"/>
            <a:ext cx="11247120" cy="128016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512064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E8CC6B"/>
                </a:solidFill>
                <a:latin typeface="Calibri"/>
                <a:ea typeface="Calibri"/>
              </a:rPr>
              <a:t>30+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576072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明细报表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62072" y="512064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E8CC6B"/>
                </a:solidFill>
                <a:latin typeface="Calibri"/>
                <a:ea typeface="Calibri"/>
              </a:rP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62072" y="576072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专题看板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84064" y="512064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E8CC6B"/>
                </a:solidFill>
                <a:latin typeface="Calibri"/>
                <a:ea typeface="Calibri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84064" y="576072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指标域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06056" y="512064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E8CC6B"/>
                </a:solidFill>
                <a:latin typeface="Calibri"/>
                <a:ea typeface="Calibri"/>
              </a:rPr>
              <a:t>4 级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06056" y="576072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下钻穿透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28048" y="5120640"/>
            <a:ext cx="21031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E8CC6B"/>
                </a:solidFill>
                <a:latin typeface="Calibri"/>
                <a:ea typeface="Calibri"/>
              </a:rPr>
              <a:t>≤3 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28048" y="576072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查询响应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11 / 25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PILLAR 1 · 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战略指标体系示例：可计算、可下钻、可对标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12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9692640" cy="4572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508760"/>
            <a:ext cx="685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编号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50876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指标名称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150876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类别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2" y="150876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计算口径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1508760"/>
            <a:ext cx="1600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数据来源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150876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更新频率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1508760"/>
            <a:ext cx="146303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对标维度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874519"/>
            <a:ext cx="9692640" cy="502920"/>
          </a:xfrm>
          <a:prstGeom prst="rect">
            <a:avLst/>
          </a:prstGeom>
          <a:solidFill>
            <a:srgbClr val="F8FAF7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1993391"/>
            <a:ext cx="685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4332"/>
                </a:solidFill>
                <a:latin typeface="Microsoft YaHei"/>
                <a:ea typeface="Microsoft YaHei"/>
              </a:rPr>
              <a:t>F-001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1993391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4332"/>
                </a:solidFill>
                <a:latin typeface="Microsoft YaHei"/>
                <a:ea typeface="Microsoft YaHei"/>
              </a:rPr>
              <a:t>种业收入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4952" y="1993391"/>
            <a:ext cx="777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财务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2" y="1993391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Σ(各品类收入)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1993391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ERP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9831" y="1993391"/>
            <a:ext cx="822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1993391"/>
            <a:ext cx="146303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Top5 玩家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377439"/>
            <a:ext cx="9692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2496311"/>
            <a:ext cx="685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4332"/>
                </a:solidFill>
                <a:latin typeface="Microsoft YaHei"/>
                <a:ea typeface="Microsoft YaHei"/>
              </a:rPr>
              <a:t>F-005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2496311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4332"/>
                </a:solidFill>
                <a:latin typeface="Microsoft YaHei"/>
                <a:ea typeface="Microsoft YaHei"/>
              </a:rPr>
              <a:t>种业毛利率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4952" y="2496311"/>
            <a:ext cx="777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财务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3632" y="2496311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(收入-成本)/收入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8192" y="2496311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ERP+财报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9831" y="2496311"/>
            <a:ext cx="822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14232" y="2496311"/>
            <a:ext cx="146303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Top5 玩家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880360"/>
            <a:ext cx="9692640" cy="502920"/>
          </a:xfrm>
          <a:prstGeom prst="rect">
            <a:avLst/>
          </a:prstGeom>
          <a:solidFill>
            <a:srgbClr val="F8FAF7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2999232"/>
            <a:ext cx="685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4332"/>
                </a:solidFill>
                <a:latin typeface="Microsoft YaHei"/>
                <a:ea typeface="Microsoft YaHei"/>
              </a:rPr>
              <a:t>M-002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2" y="2999232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4332"/>
                </a:solidFill>
                <a:latin typeface="Microsoft YaHei"/>
                <a:ea typeface="Microsoft YaHei"/>
              </a:rPr>
              <a:t>玉米种子市占率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44952" y="2999232"/>
            <a:ext cx="777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市场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13632" y="2999232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公司销量 / 行业销量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08192" y="2999232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Wind+内部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99831" y="2999232"/>
            <a:ext cx="822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14232" y="2999232"/>
            <a:ext cx="146303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区域+全国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383280"/>
            <a:ext cx="9692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" y="3502152"/>
            <a:ext cx="685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4332"/>
                </a:solidFill>
                <a:latin typeface="Microsoft YaHei"/>
                <a:ea typeface="Microsoft YaHei"/>
              </a:rPr>
              <a:t>R-003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53312" y="3502152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4332"/>
                </a:solidFill>
                <a:latin typeface="Microsoft YaHei"/>
                <a:ea typeface="Microsoft YaHei"/>
              </a:rPr>
              <a:t>PCT 专利申请数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44952" y="3502152"/>
            <a:ext cx="777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研发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13632" y="3502152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Σ(年内 PCT 提交数)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08192" y="3502152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外部数据库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99831" y="3502152"/>
            <a:ext cx="822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14232" y="3502152"/>
            <a:ext cx="146303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Top10 玩家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3886200"/>
            <a:ext cx="9692640" cy="502920"/>
          </a:xfrm>
          <a:prstGeom prst="rect">
            <a:avLst/>
          </a:prstGeom>
          <a:solidFill>
            <a:srgbClr val="F8FAF7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" y="4005072"/>
            <a:ext cx="685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4332"/>
                </a:solidFill>
                <a:latin typeface="Microsoft YaHei"/>
                <a:ea typeface="Microsoft YaHei"/>
              </a:rPr>
              <a:t>G-004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53312" y="4005072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4332"/>
                </a:solidFill>
                <a:latin typeface="Microsoft YaHei"/>
                <a:ea typeface="Microsoft YaHei"/>
              </a:rPr>
              <a:t>种质资源引进数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44952" y="4005072"/>
            <a:ext cx="777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种质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3632" y="4005072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Σ(年内入库材料数)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08192" y="4005072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种质资源系统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99831" y="4005072"/>
            <a:ext cx="822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14232" y="4005072"/>
            <a:ext cx="146303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国家库 vs 公司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389120"/>
            <a:ext cx="9692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" y="4507992"/>
            <a:ext cx="685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4332"/>
                </a:solidFill>
                <a:latin typeface="Microsoft YaHei"/>
                <a:ea typeface="Microsoft YaHei"/>
              </a:rPr>
              <a:t>E-002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53312" y="4507992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4332"/>
                </a:solidFill>
                <a:latin typeface="Microsoft YaHei"/>
                <a:ea typeface="Microsoft YaHei"/>
              </a:rPr>
              <a:t>常规品种审定数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44952" y="4507992"/>
            <a:ext cx="777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外部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13632" y="4507992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省+国家审定通过数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08192" y="4507992"/>
            <a:ext cx="1600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农业农村部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99831" y="4507992"/>
            <a:ext cx="822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季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14232" y="4507992"/>
            <a:ext cx="146303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区域+全国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2920" y="4892040"/>
            <a:ext cx="11155680" cy="1508760"/>
          </a:xfrm>
          <a:prstGeom prst="roundRect">
            <a:avLst>
              <a:gd name="adj" fmla="val 4000"/>
            </a:avLst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983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4332"/>
                </a:solidFill>
                <a:latin typeface="Microsoft YaHei"/>
                <a:ea typeface="Microsoft YaHei"/>
              </a:rPr>
              <a:t>★ 指标体系建设方法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5349240"/>
            <a:ext cx="1078992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25000"/>
              </a:lnSpc>
            </a:pPr>
            <a:r>
              <a:rPr sz="1050" b="1">
                <a:solidFill>
                  <a:srgbClr val="C9A227"/>
                </a:solidFill>
                <a:latin typeface="Microsoft YaHei"/>
                <a:ea typeface="Microsoft YaHei"/>
              </a:rPr>
              <a:t>①  </a:t>
            </a:r>
            <a:r>
              <a:rPr sz="1050">
                <a:solidFill>
                  <a:srgbClr val="242D3A"/>
                </a:solidFill>
                <a:latin typeface="Microsoft YaHei"/>
                <a:ea typeface="Microsoft YaHei"/>
              </a:rPr>
              <a:t>业务+财务+研发联合工作坊：3 轮口径对齐，输出《指标定义说明书》《指标清单》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050" b="1">
                <a:solidFill>
                  <a:srgbClr val="C9A227"/>
                </a:solidFill>
                <a:latin typeface="Microsoft YaHei"/>
                <a:ea typeface="Microsoft YaHei"/>
              </a:rPr>
              <a:t>②  </a:t>
            </a:r>
            <a:r>
              <a:rPr sz="1050">
                <a:solidFill>
                  <a:srgbClr val="242D3A"/>
                </a:solidFill>
                <a:latin typeface="Microsoft YaHei"/>
                <a:ea typeface="Microsoft YaHei"/>
              </a:rPr>
              <a:t>DataWorks 任务编排，按指标分类设置 月/季/实时 三档计算频次，写入指标库专表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050" b="1">
                <a:solidFill>
                  <a:srgbClr val="C9A227"/>
                </a:solidFill>
                <a:latin typeface="Microsoft YaHei"/>
                <a:ea typeface="Microsoft YaHei"/>
              </a:rPr>
              <a:t>③  </a:t>
            </a:r>
            <a:r>
              <a:rPr sz="1050">
                <a:solidFill>
                  <a:srgbClr val="242D3A"/>
                </a:solidFill>
                <a:latin typeface="Microsoft YaHei"/>
                <a:ea typeface="Microsoft YaHei"/>
              </a:rPr>
              <a:t>指标 API 统一服务 BI 看板、移动端、AI 智能问答；变更走 PR 评审保留版本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12 / 25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PILLAR 2 · 3.2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对标数据库：内外融合，从“看自己“到“看行业”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13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657600" cy="493776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657600" cy="5029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数据来源 · Sources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057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B4332"/>
                </a:solidFill>
                <a:latin typeface="Microsoft YaHei"/>
                <a:ea typeface="Microsoft YaHei"/>
              </a:rPr>
              <a:t>种业发展报告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42316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行业规模 / 结构 / 趋势 关键指标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10896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B4332"/>
                </a:solidFill>
                <a:latin typeface="Microsoft YaHei"/>
                <a:ea typeface="Microsoft YaHei"/>
              </a:rPr>
              <a:t>Wind 数据库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47472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全球上市公司财务三表数据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16052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B4332"/>
                </a:solidFill>
                <a:latin typeface="Microsoft YaHei"/>
                <a:ea typeface="Microsoft YaHei"/>
              </a:rPr>
              <a:t>业务整理数据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52628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Top 玩家公开年报 / 季报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25780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21208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B4332"/>
                </a:solidFill>
                <a:latin typeface="Microsoft YaHei"/>
                <a:ea typeface="Microsoft YaHei"/>
              </a:rPr>
              <a:t>公司内部指标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57784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战略指标库联动数据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146304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对标数据建模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178308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Benchmark Modeling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0" y="3017520"/>
            <a:ext cx="2286000" cy="228600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349240" y="3337560"/>
            <a:ext cx="1645920" cy="1645920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365760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对标数据集市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06908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E8CC6B"/>
                </a:solidFill>
                <a:latin typeface="Microsoft YaHei"/>
                <a:ea typeface="Microsoft YaHei"/>
              </a:rPr>
              <a:t>Benchmark Mart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43484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DWS 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60520" y="2834640"/>
            <a:ext cx="1188720" cy="365760"/>
          </a:xfrm>
          <a:prstGeom prst="roundRect">
            <a:avLst>
              <a:gd name="adj" fmla="val 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0520" y="289864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内外融合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78040" y="2834640"/>
            <a:ext cx="1188720" cy="365760"/>
          </a:xfrm>
          <a:prstGeom prst="roundRect">
            <a:avLst>
              <a:gd name="adj" fmla="val 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8040" y="289864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时间对齐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4937760"/>
            <a:ext cx="1188720" cy="365760"/>
          </a:xfrm>
          <a:prstGeom prst="roundRect">
            <a:avLst>
              <a:gd name="adj" fmla="val 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60520" y="500176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口径校准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78040" y="4937760"/>
            <a:ext cx="1188720" cy="365760"/>
          </a:xfrm>
          <a:prstGeom prst="roundRect">
            <a:avLst>
              <a:gd name="adj" fmla="val 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78040" y="5001768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货币归一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146304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对标分析看板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1783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Benchmark Dashboards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2240280"/>
            <a:ext cx="338328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21040" y="2240280"/>
            <a:ext cx="54864" cy="713232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58200" y="2313432"/>
            <a:ext cx="3200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4332"/>
                </a:solidFill>
                <a:latin typeface="Microsoft YaHei"/>
                <a:ea typeface="Microsoft YaHei"/>
              </a:rPr>
              <a:t>#1  行业全景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260604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行业规模 / 增速 / 集中度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21040" y="3017520"/>
            <a:ext cx="338328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21040" y="3017520"/>
            <a:ext cx="54864" cy="713232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58200" y="3090672"/>
            <a:ext cx="3200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4332"/>
                </a:solidFill>
                <a:latin typeface="Microsoft YaHei"/>
                <a:ea typeface="Microsoft YaHei"/>
              </a:rPr>
              <a:t>#2  竞争格局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338328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Top10 玩家市占与份额变化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21040" y="3794760"/>
            <a:ext cx="338328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21040" y="3794760"/>
            <a:ext cx="54864" cy="713232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58200" y="3867912"/>
            <a:ext cx="3200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4332"/>
                </a:solidFill>
                <a:latin typeface="Microsoft YaHei"/>
                <a:ea typeface="Microsoft YaHei"/>
              </a:rPr>
              <a:t>#3  财务对标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58200" y="416052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收入 / 毛利率 / 净利率 / ROE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21040" y="4572000"/>
            <a:ext cx="338328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321040" y="4572000"/>
            <a:ext cx="54864" cy="713232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58200" y="4645152"/>
            <a:ext cx="3200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4332"/>
                </a:solidFill>
                <a:latin typeface="Microsoft YaHei"/>
                <a:ea typeface="Microsoft YaHei"/>
              </a:rPr>
              <a:t>#4  研发对标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58200" y="493776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R&amp;D 强度 / PCT / 新品种数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21040" y="5349240"/>
            <a:ext cx="338328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321040" y="5349240"/>
            <a:ext cx="54864" cy="713232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58200" y="5422392"/>
            <a:ext cx="3200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4332"/>
                </a:solidFill>
                <a:latin typeface="Microsoft YaHei"/>
                <a:ea typeface="Microsoft YaHei"/>
              </a:rPr>
              <a:t>#5  差距分析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58200" y="571500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vs 标杆企业差距分解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13 / 25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PILLAR 3 · 3.3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知识库与 AI 应用架构：基于百炼大模型的企业级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14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3657600" cy="5486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36192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数据接入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2880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20">
                <a:solidFill>
                  <a:srgbClr val="E8CC6B"/>
                </a:solidFill>
                <a:latin typeface="Microsoft YaHei"/>
                <a:ea typeface="Microsoft YaHei"/>
              </a:rPr>
              <a:t>INGEST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194560"/>
            <a:ext cx="146304" cy="146304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13055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资讯爬虫 (Function Compute)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2560320"/>
            <a:ext cx="146304" cy="146304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49631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公众号 / 网站 / 接口对接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2926080"/>
            <a:ext cx="146304" cy="146304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6207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报告统一上传 (魔笔门户)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291840"/>
            <a:ext cx="146304" cy="146304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22783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内部指标 API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160520" y="2423160"/>
            <a:ext cx="164592" cy="164592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61688" y="141732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1688" y="1417320"/>
            <a:ext cx="3657600" cy="54864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1536192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知识加工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182880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20">
                <a:solidFill>
                  <a:srgbClr val="E8CC6B"/>
                </a:solidFill>
                <a:latin typeface="Microsoft YaHei"/>
                <a:ea typeface="Microsoft YaHei"/>
              </a:rPr>
              <a:t>PROCESS</a:t>
            </a:r>
          </a:p>
        </p:txBody>
      </p:sp>
      <p:sp>
        <p:nvSpPr>
          <p:cNvPr id="27" name="Oval 26"/>
          <p:cNvSpPr/>
          <p:nvPr/>
        </p:nvSpPr>
        <p:spPr>
          <a:xfrm>
            <a:off x="4636007" y="2194560"/>
            <a:ext cx="146304" cy="146304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213055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AI 自动分类与打标</a:t>
            </a:r>
          </a:p>
        </p:txBody>
      </p:sp>
      <p:sp>
        <p:nvSpPr>
          <p:cNvPr id="29" name="Oval 28"/>
          <p:cNvSpPr/>
          <p:nvPr/>
        </p:nvSpPr>
        <p:spPr>
          <a:xfrm>
            <a:off x="4636007" y="2560320"/>
            <a:ext cx="146304" cy="146304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4607" y="249631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文档解析 (PDF/Word/Excel)</a:t>
            </a:r>
          </a:p>
        </p:txBody>
      </p:sp>
      <p:sp>
        <p:nvSpPr>
          <p:cNvPr id="31" name="Oval 30"/>
          <p:cNvSpPr/>
          <p:nvPr/>
        </p:nvSpPr>
        <p:spPr>
          <a:xfrm>
            <a:off x="4636007" y="2926080"/>
            <a:ext cx="146304" cy="146304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4607" y="286207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切片 + 向量化 + 入向量库</a:t>
            </a:r>
          </a:p>
        </p:txBody>
      </p:sp>
      <p:sp>
        <p:nvSpPr>
          <p:cNvPr id="33" name="Oval 32"/>
          <p:cNvSpPr/>
          <p:nvPr/>
        </p:nvSpPr>
        <p:spPr>
          <a:xfrm>
            <a:off x="4636007" y="3291840"/>
            <a:ext cx="146304" cy="146304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64607" y="322783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元数据 + 关键词索引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065008" y="2423160"/>
            <a:ext cx="164592" cy="164592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66175" y="141732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66175" y="1417320"/>
            <a:ext cx="3657600" cy="5486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49055" y="1536192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智能应用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49055" y="1828800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20">
                <a:solidFill>
                  <a:srgbClr val="E8CC6B"/>
                </a:solidFill>
                <a:latin typeface="Microsoft YaHei"/>
                <a:ea typeface="Microsoft YaHei"/>
              </a:rPr>
              <a:t>APPLY</a:t>
            </a:r>
          </a:p>
        </p:txBody>
      </p:sp>
      <p:sp>
        <p:nvSpPr>
          <p:cNvPr id="40" name="Oval 39"/>
          <p:cNvSpPr/>
          <p:nvPr/>
        </p:nvSpPr>
        <p:spPr>
          <a:xfrm>
            <a:off x="8540496" y="2194560"/>
            <a:ext cx="146304" cy="146304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69096" y="213055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智能问答 (RAG + Tool Use)</a:t>
            </a:r>
          </a:p>
        </p:txBody>
      </p:sp>
      <p:sp>
        <p:nvSpPr>
          <p:cNvPr id="42" name="Oval 41"/>
          <p:cNvSpPr/>
          <p:nvPr/>
        </p:nvSpPr>
        <p:spPr>
          <a:xfrm>
            <a:off x="8540496" y="2560320"/>
            <a:ext cx="146304" cy="146304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69096" y="249631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日报 / 周报自动生成</a:t>
            </a:r>
          </a:p>
        </p:txBody>
      </p:sp>
      <p:sp>
        <p:nvSpPr>
          <p:cNvPr id="44" name="Oval 43"/>
          <p:cNvSpPr/>
          <p:nvPr/>
        </p:nvSpPr>
        <p:spPr>
          <a:xfrm>
            <a:off x="8540496" y="2926080"/>
            <a:ext cx="146304" cy="146304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69096" y="286207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专题分析报告生成</a:t>
            </a:r>
          </a:p>
        </p:txBody>
      </p:sp>
      <p:sp>
        <p:nvSpPr>
          <p:cNvPr id="46" name="Oval 45"/>
          <p:cNvSpPr/>
          <p:nvPr/>
        </p:nvSpPr>
        <p:spPr>
          <a:xfrm>
            <a:off x="8540496" y="3291840"/>
            <a:ext cx="146304" cy="146304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69096" y="322783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嵌入 BI / 门户多入口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8862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4332"/>
                </a:solidFill>
                <a:latin typeface="Microsoft YaHei"/>
                <a:ea typeface="Microsoft YaHei"/>
              </a:rPr>
              <a:t>核心 AI 能力 · Capabilities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29768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4297680"/>
            <a:ext cx="278892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5800" y="4526280"/>
            <a:ext cx="502920" cy="50292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4572000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25880" y="45262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4332"/>
                </a:solidFill>
                <a:latin typeface="Microsoft YaHei"/>
                <a:ea typeface="Microsoft YaHei"/>
              </a:rPr>
              <a:t>分类打标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25880" y="48463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Auto-tagging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" y="525780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5349240"/>
            <a:ext cx="2468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百炼大模型对资讯按主题、地域、企业自动打标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383280" y="429768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83280" y="4297680"/>
            <a:ext cx="278892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611880" y="4526280"/>
            <a:ext cx="502920" cy="50292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11880" y="4572000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51960" y="45262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4332"/>
                </a:solidFill>
                <a:latin typeface="Microsoft YaHei"/>
                <a:ea typeface="Microsoft YaHei"/>
              </a:rPr>
              <a:t>研判总结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51960" y="48463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Summarization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11880" y="525780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11880" y="5349240"/>
            <a:ext cx="2468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对一段时间资讯生成观点总结 + 关键事件清单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09360" y="429768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09360" y="4297680"/>
            <a:ext cx="278892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537960" y="4526280"/>
            <a:ext cx="502920" cy="50292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37960" y="4572000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8040" y="45262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4332"/>
                </a:solidFill>
                <a:latin typeface="Microsoft YaHei"/>
                <a:ea typeface="Microsoft YaHei"/>
              </a:rPr>
              <a:t>智能问答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78040" y="48463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Q&amp;A · RAG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60" y="525780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37960" y="5349240"/>
            <a:ext cx="2468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自然语言问答内部指标 / 行业资讯 / 报告内容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235440" y="429768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235440" y="4297680"/>
            <a:ext cx="278892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64040" y="4526280"/>
            <a:ext cx="502920" cy="50292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64040" y="4572000"/>
            <a:ext cx="502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4120" y="45262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4332"/>
                </a:solidFill>
                <a:latin typeface="Microsoft YaHei"/>
                <a:ea typeface="Microsoft YaHei"/>
              </a:rPr>
              <a:t>报告生成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04120" y="48463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Auto Reporting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464040" y="525780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64040" y="5349240"/>
            <a:ext cx="24688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基于资讯+指标+对标数据生成日报/专题报告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14 / 25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AI APP · 3.3.1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RAG 智能问答：可解释、可追溯、可控的企业级问答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3657600" cy="9144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C9A227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55448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用户提问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92024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7744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6888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自然语言 / 移动端 / BI 嵌入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97096" y="2240280"/>
            <a:ext cx="146304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137160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71600"/>
            <a:ext cx="3657600" cy="9144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55448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C9A227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155448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意图识别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192024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Intent + Tool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37744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46888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指标类 / 资讯类 / 报告类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037575" y="2240280"/>
            <a:ext cx="146304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83880" y="137160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1371600"/>
            <a:ext cx="3657600" cy="9144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55448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C9A227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155448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混合检索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192024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Hybrid Search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237744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46888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向量检索 + 关键词 + 元数据过滤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9939528" y="3273552"/>
            <a:ext cx="146304" cy="16459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356616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3566160"/>
            <a:ext cx="3657600" cy="914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74903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C9A227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3749039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上下文组装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411480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Context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57200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66344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Top-K Chunks + 指标 API 实时数据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197096" y="4434840"/>
            <a:ext cx="146304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343400" y="356616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566160"/>
            <a:ext cx="3657600" cy="914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374903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C9A227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57800" y="3749039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大模型推理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411480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百炼 LLM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0" y="457200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0" y="466344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推理 + Citation 引用 + 拒答策略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037575" y="4434840"/>
            <a:ext cx="146304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183880" y="3566160"/>
            <a:ext cx="365760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83880" y="3566160"/>
            <a:ext cx="3657600" cy="914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374903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C9A227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3749039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结果输出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411480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280"/>
                </a:solidFill>
                <a:latin typeface="Microsoft YaHei"/>
                <a:ea typeface="Microsoft YaHei"/>
              </a:rPr>
              <a:t>Answer + Trace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12480" y="4572000"/>
            <a:ext cx="36576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0" y="466344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答案 + 参考文档 + 数据来源链路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760720"/>
            <a:ext cx="11247120" cy="50292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可信保障  ·  Citation 强制引用 · Hallucination 拒答 · 权限受控（行列级）· 审计留痕  ·  10 秒内复杂问答响应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15 / 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AI APP · 3.3.2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自动化报告生成：日报 / 周报 / 专题分析三档全覆盖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16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70332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703320" cy="8686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0876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FFFFFF"/>
                </a:solidFill>
                <a:latin typeface="Microsoft YaHei"/>
                <a:ea typeface="Microsoft YaHei"/>
              </a:rPr>
              <a:t>DAILY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64792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种业资讯日报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2514600"/>
            <a:ext cx="164592" cy="16459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50591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数据范围：T-1 全量资讯 + 重点关注主体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108960"/>
            <a:ext cx="164592" cy="16459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44951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AI 处理：自动聚类、要点提炼、影响研判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703320"/>
            <a:ext cx="164592" cy="16459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39311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产出形式：HTML 简报 + 邮件推送 + 移动端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297680"/>
            <a:ext cx="164592" cy="16459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33672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时效：每日 08:00 自动生成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1688" y="1371600"/>
            <a:ext cx="370332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1688" y="1371600"/>
            <a:ext cx="3703320" cy="8686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150876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FFFFFF"/>
                </a:solidFill>
                <a:latin typeface="Microsoft YaHei"/>
                <a:ea typeface="Microsoft YaHei"/>
              </a:rPr>
              <a:t>WEEKLY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1764792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行业周报</a:t>
            </a:r>
          </a:p>
        </p:txBody>
      </p:sp>
      <p:sp>
        <p:nvSpPr>
          <p:cNvPr id="26" name="Oval 25"/>
          <p:cNvSpPr/>
          <p:nvPr/>
        </p:nvSpPr>
        <p:spPr>
          <a:xfrm>
            <a:off x="4590288" y="2514600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2450591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数据范围：本周资讯 + 内部指标变化</a:t>
            </a:r>
          </a:p>
        </p:txBody>
      </p:sp>
      <p:sp>
        <p:nvSpPr>
          <p:cNvPr id="28" name="Oval 27"/>
          <p:cNvSpPr/>
          <p:nvPr/>
        </p:nvSpPr>
        <p:spPr>
          <a:xfrm>
            <a:off x="4590288" y="3108960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8888" y="3044951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AI 处理：主题归并 + 周度态势 + Top 事件</a:t>
            </a:r>
          </a:p>
        </p:txBody>
      </p:sp>
      <p:sp>
        <p:nvSpPr>
          <p:cNvPr id="30" name="Oval 29"/>
          <p:cNvSpPr/>
          <p:nvPr/>
        </p:nvSpPr>
        <p:spPr>
          <a:xfrm>
            <a:off x="4590288" y="3703320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18888" y="3639311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产出形式：Word + PDF + 看板嵌入</a:t>
            </a:r>
          </a:p>
        </p:txBody>
      </p:sp>
      <p:sp>
        <p:nvSpPr>
          <p:cNvPr id="32" name="Oval 31"/>
          <p:cNvSpPr/>
          <p:nvPr/>
        </p:nvSpPr>
        <p:spPr>
          <a:xfrm>
            <a:off x="4590288" y="4297680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18888" y="4233672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时效：每周一 09:00 自动生成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66175" y="1371600"/>
            <a:ext cx="370332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66175" y="1371600"/>
            <a:ext cx="3703320" cy="868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94776" y="150876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200">
                <a:solidFill>
                  <a:srgbClr val="FFFFFF"/>
                </a:solidFill>
                <a:latin typeface="Microsoft YaHei"/>
                <a:ea typeface="Microsoft YaHei"/>
              </a:rPr>
              <a:t>THEMATIC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94776" y="1764792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专题分析报告</a:t>
            </a:r>
          </a:p>
        </p:txBody>
      </p:sp>
      <p:sp>
        <p:nvSpPr>
          <p:cNvPr id="38" name="Oval 37"/>
          <p:cNvSpPr/>
          <p:nvPr/>
        </p:nvSpPr>
        <p:spPr>
          <a:xfrm>
            <a:off x="8494776" y="2514600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23376" y="2450591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数据范围：自定义时间窗 + 内外部数据融合</a:t>
            </a:r>
          </a:p>
        </p:txBody>
      </p:sp>
      <p:sp>
        <p:nvSpPr>
          <p:cNvPr id="40" name="Oval 39"/>
          <p:cNvSpPr/>
          <p:nvPr/>
        </p:nvSpPr>
        <p:spPr>
          <a:xfrm>
            <a:off x="8494776" y="3108960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23376" y="3044951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AI 处理：研判 + 对标 + 趋势 + 建议</a:t>
            </a:r>
          </a:p>
        </p:txBody>
      </p:sp>
      <p:sp>
        <p:nvSpPr>
          <p:cNvPr id="42" name="Oval 41"/>
          <p:cNvSpPr/>
          <p:nvPr/>
        </p:nvSpPr>
        <p:spPr>
          <a:xfrm>
            <a:off x="8494776" y="3703320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23376" y="3639311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产出形式：可编辑的标准模板 PPT/Word</a:t>
            </a:r>
          </a:p>
        </p:txBody>
      </p:sp>
      <p:sp>
        <p:nvSpPr>
          <p:cNvPr id="44" name="Oval 43"/>
          <p:cNvSpPr/>
          <p:nvPr/>
        </p:nvSpPr>
        <p:spPr>
          <a:xfrm>
            <a:off x="8494776" y="4297680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23376" y="4233672"/>
            <a:ext cx="3154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时效：自助触发，分钟级生成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577840"/>
            <a:ext cx="11247120" cy="777240"/>
          </a:xfrm>
          <a:prstGeom prst="roundRect">
            <a:avLst>
              <a:gd name="adj" fmla="val 4000"/>
            </a:avLst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650992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4332"/>
                </a:solidFill>
                <a:latin typeface="Microsoft YaHei"/>
                <a:ea typeface="Microsoft YaHei"/>
              </a:rPr>
              <a:t>★ 报告生成链路 (LangChain Style)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数据采集 → 主题聚合 → AI 摘要 → 结构化模板 → 校验与水印 → 多通道分发（邮件/IM/门户/移动端）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16 / 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BI DASHBOARD · 3.4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可视化看板：10 个战略专题，统一沿用永洪 BI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17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1945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2194560" cy="38404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26464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01 战略总览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874519"/>
            <a:ext cx="1920240" cy="457200"/>
          </a:xfrm>
          <a:prstGeom prst="rect">
            <a:avLst/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194560"/>
            <a:ext cx="201168" cy="137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1832" y="2125979"/>
            <a:ext cx="201168" cy="2057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43584" y="2057400"/>
            <a:ext cx="201168" cy="274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5336" y="2103120"/>
            <a:ext cx="201168" cy="228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47088" y="2011679"/>
            <a:ext cx="201168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48840" y="1943100"/>
            <a:ext cx="201168" cy="3886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423160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核心 KPI 一屏掌握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1371600"/>
            <a:ext cx="21945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88920" y="1371600"/>
            <a:ext cx="2194560" cy="384048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79" y="1426464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02 收入与利润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79" y="1874519"/>
            <a:ext cx="1920240" cy="457200"/>
          </a:xfrm>
          <a:prstGeom prst="rect">
            <a:avLst/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2194560"/>
            <a:ext cx="201168" cy="137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3552" y="2125979"/>
            <a:ext cx="201168" cy="2057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75304" y="2057400"/>
            <a:ext cx="201168" cy="274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77056" y="2103120"/>
            <a:ext cx="201168" cy="228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78808" y="2011679"/>
            <a:ext cx="201168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0560" y="1943100"/>
            <a:ext cx="201168" cy="3886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79" y="2423160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结构 / 同环比 / 预算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1371600"/>
            <a:ext cx="21945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20640" y="1371600"/>
            <a:ext cx="2194560" cy="38404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800" y="1426464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03 市占率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7800" y="1874519"/>
            <a:ext cx="1920240" cy="457200"/>
          </a:xfrm>
          <a:prstGeom prst="rect">
            <a:avLst/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03520" y="2194560"/>
            <a:ext cx="201168" cy="137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05272" y="2125979"/>
            <a:ext cx="201168" cy="2057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07024" y="2057400"/>
            <a:ext cx="201168" cy="274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08776" y="2103120"/>
            <a:ext cx="201168" cy="228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10528" y="2011679"/>
            <a:ext cx="201168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12280" y="1943100"/>
            <a:ext cx="201168" cy="3886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2423160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全国 + 区域 + 品类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52359" y="1371600"/>
            <a:ext cx="21945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52359" y="1371600"/>
            <a:ext cx="2194560" cy="384048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19" y="1426464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04 研发创新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19" y="1874519"/>
            <a:ext cx="1920240" cy="457200"/>
          </a:xfrm>
          <a:prstGeom prst="rect">
            <a:avLst/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35239" y="2194560"/>
            <a:ext cx="201168" cy="137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36991" y="2125979"/>
            <a:ext cx="201168" cy="2057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38743" y="2057400"/>
            <a:ext cx="201168" cy="274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40495" y="2103120"/>
            <a:ext cx="201168" cy="228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42247" y="2011679"/>
            <a:ext cx="201168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43999" y="1943100"/>
            <a:ext cx="201168" cy="3886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89519" y="2423160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PCT / R&amp;D / 新品种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84080" y="1371600"/>
            <a:ext cx="21945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84080" y="1371600"/>
            <a:ext cx="2194560" cy="38404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21240" y="1426464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05 种质资源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21240" y="1874519"/>
            <a:ext cx="1920240" cy="457200"/>
          </a:xfrm>
          <a:prstGeom prst="rect">
            <a:avLst/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966959" y="2194560"/>
            <a:ext cx="201168" cy="137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268711" y="2125979"/>
            <a:ext cx="201168" cy="2057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570463" y="2057400"/>
            <a:ext cx="201168" cy="274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872215" y="2103120"/>
            <a:ext cx="201168" cy="228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173967" y="2011679"/>
            <a:ext cx="201168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475719" y="1943100"/>
            <a:ext cx="201168" cy="3886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21240" y="2423160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引进 / 入库 / 利用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2926080"/>
            <a:ext cx="21945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7200" y="2926080"/>
            <a:ext cx="2194560" cy="384048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" y="2980944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06 产能运营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" y="3429000"/>
            <a:ext cx="1920240" cy="457200"/>
          </a:xfrm>
          <a:prstGeom prst="rect">
            <a:avLst/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" y="3749039"/>
            <a:ext cx="201168" cy="137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41832" y="3680460"/>
            <a:ext cx="201168" cy="2057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43584" y="3611880"/>
            <a:ext cx="201168" cy="274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545336" y="3657600"/>
            <a:ext cx="201168" cy="228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847088" y="3566160"/>
            <a:ext cx="201168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148840" y="3497580"/>
            <a:ext cx="201168" cy="3886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94360" y="3977639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产销 / 库存 / 履约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788920" y="2926080"/>
            <a:ext cx="21945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788920" y="2926080"/>
            <a:ext cx="2194560" cy="38404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26079" y="2980944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07 品种审定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926079" y="3429000"/>
            <a:ext cx="1920240" cy="457200"/>
          </a:xfrm>
          <a:prstGeom prst="rect">
            <a:avLst/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971800" y="3749039"/>
            <a:ext cx="201168" cy="137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273552" y="3680460"/>
            <a:ext cx="201168" cy="2057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575304" y="3611880"/>
            <a:ext cx="201168" cy="274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877056" y="3657600"/>
            <a:ext cx="201168" cy="228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178808" y="3566160"/>
            <a:ext cx="201168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480560" y="3497580"/>
            <a:ext cx="201168" cy="3886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26079" y="3977639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省 / 国家 / 通过率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120640" y="2926080"/>
            <a:ext cx="21945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120640" y="2926080"/>
            <a:ext cx="2194560" cy="384048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257800" y="2980944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08 行业全景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257800" y="3429000"/>
            <a:ext cx="1920240" cy="457200"/>
          </a:xfrm>
          <a:prstGeom prst="rect">
            <a:avLst/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303520" y="3749039"/>
            <a:ext cx="201168" cy="137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605272" y="3680460"/>
            <a:ext cx="201168" cy="2057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907024" y="3611880"/>
            <a:ext cx="201168" cy="274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208776" y="3657600"/>
            <a:ext cx="201168" cy="228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510528" y="3566160"/>
            <a:ext cx="201168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812280" y="3497580"/>
            <a:ext cx="201168" cy="3886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57800" y="3977639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规模 / 结构 / 趋势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452359" y="2926080"/>
            <a:ext cx="21945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452359" y="2926080"/>
            <a:ext cx="2194560" cy="38404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589519" y="2980944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09 竞争对标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89519" y="3429000"/>
            <a:ext cx="1920240" cy="457200"/>
          </a:xfrm>
          <a:prstGeom prst="rect">
            <a:avLst/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635239" y="3749039"/>
            <a:ext cx="201168" cy="137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936991" y="3680460"/>
            <a:ext cx="201168" cy="2057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238743" y="3611880"/>
            <a:ext cx="201168" cy="274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540495" y="3657600"/>
            <a:ext cx="201168" cy="228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842247" y="3566160"/>
            <a:ext cx="201168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143999" y="3497580"/>
            <a:ext cx="201168" cy="3886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589519" y="3977639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Top10 vs 公司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784080" y="2926080"/>
            <a:ext cx="21945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784080" y="2926080"/>
            <a:ext cx="2194560" cy="384048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921240" y="2980944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10 差距分析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921240" y="3429000"/>
            <a:ext cx="1920240" cy="457200"/>
          </a:xfrm>
          <a:prstGeom prst="rect">
            <a:avLst/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966959" y="3749039"/>
            <a:ext cx="201168" cy="137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268711" y="3680460"/>
            <a:ext cx="201168" cy="2057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570463" y="3611880"/>
            <a:ext cx="201168" cy="2743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872215" y="3657600"/>
            <a:ext cx="201168" cy="228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1173967" y="3566160"/>
            <a:ext cx="201168" cy="320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475719" y="3497580"/>
            <a:ext cx="201168" cy="3886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921240" y="3977639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对标差距 + 改进机会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57200" y="4617720"/>
            <a:ext cx="11247120" cy="169164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31520" y="4736592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30+ 张明细报表 · 配套维护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40080" y="5212080"/>
            <a:ext cx="17830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0080" y="528523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Calibri"/>
                <a:ea typeface="Calibri"/>
              </a:rPr>
              <a:t>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40080" y="576072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财务类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505456" y="5212080"/>
            <a:ext cx="17830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505456" y="528523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Calibri"/>
                <a:ea typeface="Calibri"/>
              </a:rPr>
              <a:t>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505456" y="576072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市场类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370832" y="5212080"/>
            <a:ext cx="17830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370832" y="528523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370832" y="576072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研发类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236208" y="5212080"/>
            <a:ext cx="17830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236208" y="528523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236208" y="576072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种质类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101583" y="5212080"/>
            <a:ext cx="17830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101583" y="528523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Calibri"/>
                <a:ea typeface="Calibri"/>
              </a:rP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101583" y="576072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外部类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966959" y="5212080"/>
            <a:ext cx="17830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966959" y="5285232"/>
            <a:ext cx="1783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Calibri"/>
                <a:ea typeface="Calibri"/>
              </a:rPr>
              <a:t>3+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966959" y="576072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运营类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17 / 25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NON-FUNCTIONAL ·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安全与合规：贯穿全栈的多层纵深防御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18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78892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2788920" cy="77724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90472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FFFFFF"/>
                </a:solidFill>
                <a:latin typeface="Microsoft YaHei"/>
                <a:ea typeface="Microsoft YaHei"/>
              </a:rPr>
              <a:t>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访问层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2468880"/>
            <a:ext cx="164592" cy="164592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04872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SSO 单点登录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108960"/>
            <a:ext cx="164592" cy="164592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44952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MFA 多因子认证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749039"/>
            <a:ext cx="164592" cy="164592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85031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细粒度 RBAC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4389120"/>
            <a:ext cx="164592" cy="164592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25112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API 网关鉴权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1371600"/>
            <a:ext cx="278892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3280" y="1371600"/>
            <a:ext cx="2788920" cy="77724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1490472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FFFFFF"/>
                </a:solidFill>
                <a:latin typeface="Microsoft YaHei"/>
                <a:ea typeface="Microsoft YaHei"/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1737360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数据层</a:t>
            </a:r>
          </a:p>
        </p:txBody>
      </p:sp>
      <p:sp>
        <p:nvSpPr>
          <p:cNvPr id="26" name="Oval 25"/>
          <p:cNvSpPr/>
          <p:nvPr/>
        </p:nvSpPr>
        <p:spPr>
          <a:xfrm>
            <a:off x="3611880" y="2468880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2404872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敏感数据脱敏</a:t>
            </a:r>
          </a:p>
        </p:txBody>
      </p:sp>
      <p:sp>
        <p:nvSpPr>
          <p:cNvPr id="28" name="Oval 27"/>
          <p:cNvSpPr/>
          <p:nvPr/>
        </p:nvSpPr>
        <p:spPr>
          <a:xfrm>
            <a:off x="3611880" y="3108960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0" y="3044952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字段级加密</a:t>
            </a:r>
          </a:p>
        </p:txBody>
      </p:sp>
      <p:sp>
        <p:nvSpPr>
          <p:cNvPr id="30" name="Oval 29"/>
          <p:cNvSpPr/>
          <p:nvPr/>
        </p:nvSpPr>
        <p:spPr>
          <a:xfrm>
            <a:off x="3611880" y="3749039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3685031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行/列级权限</a:t>
            </a:r>
          </a:p>
        </p:txBody>
      </p:sp>
      <p:sp>
        <p:nvSpPr>
          <p:cNvPr id="32" name="Oval 31"/>
          <p:cNvSpPr/>
          <p:nvPr/>
        </p:nvSpPr>
        <p:spPr>
          <a:xfrm>
            <a:off x="3611880" y="4389120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4325112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传输加密 TLS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1371600"/>
            <a:ext cx="278892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1371600"/>
            <a:ext cx="2788920" cy="7772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1490472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FFFFFF"/>
                </a:solidFill>
                <a:latin typeface="Microsoft YaHei"/>
                <a:ea typeface="Microsoft YaHei"/>
              </a:rPr>
              <a:t>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1737360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应用层</a:t>
            </a:r>
          </a:p>
        </p:txBody>
      </p:sp>
      <p:sp>
        <p:nvSpPr>
          <p:cNvPr id="38" name="Oval 37"/>
          <p:cNvSpPr/>
          <p:nvPr/>
        </p:nvSpPr>
        <p:spPr>
          <a:xfrm>
            <a:off x="6537960" y="2468880"/>
            <a:ext cx="164592" cy="16459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2404872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XSS / CSRF 防护</a:t>
            </a:r>
          </a:p>
        </p:txBody>
      </p:sp>
      <p:sp>
        <p:nvSpPr>
          <p:cNvPr id="40" name="Oval 39"/>
          <p:cNvSpPr/>
          <p:nvPr/>
        </p:nvSpPr>
        <p:spPr>
          <a:xfrm>
            <a:off x="6537960" y="3108960"/>
            <a:ext cx="164592" cy="16459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3044952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WAF 防护</a:t>
            </a:r>
          </a:p>
        </p:txBody>
      </p:sp>
      <p:sp>
        <p:nvSpPr>
          <p:cNvPr id="42" name="Oval 41"/>
          <p:cNvSpPr/>
          <p:nvPr/>
        </p:nvSpPr>
        <p:spPr>
          <a:xfrm>
            <a:off x="6537960" y="3749039"/>
            <a:ext cx="164592" cy="16459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3685031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依赖漏洞扫描</a:t>
            </a:r>
          </a:p>
        </p:txBody>
      </p:sp>
      <p:sp>
        <p:nvSpPr>
          <p:cNvPr id="44" name="Oval 43"/>
          <p:cNvSpPr/>
          <p:nvPr/>
        </p:nvSpPr>
        <p:spPr>
          <a:xfrm>
            <a:off x="6537960" y="4389120"/>
            <a:ext cx="164592" cy="16459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4325112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代码安全审计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35440" y="1371600"/>
            <a:ext cx="278892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35440" y="1371600"/>
            <a:ext cx="2788920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0" y="1490472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50">
                <a:solidFill>
                  <a:srgbClr val="FFFFFF"/>
                </a:solidFill>
                <a:latin typeface="Microsoft YaHei"/>
                <a:ea typeface="Microsoft YaHei"/>
              </a:rPr>
              <a:t>Runtime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1737360"/>
            <a:ext cx="23774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运行层</a:t>
            </a:r>
          </a:p>
        </p:txBody>
      </p:sp>
      <p:sp>
        <p:nvSpPr>
          <p:cNvPr id="50" name="Oval 49"/>
          <p:cNvSpPr/>
          <p:nvPr/>
        </p:nvSpPr>
        <p:spPr>
          <a:xfrm>
            <a:off x="9464040" y="2468880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2404872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定期备份恢复</a:t>
            </a:r>
          </a:p>
        </p:txBody>
      </p:sp>
      <p:sp>
        <p:nvSpPr>
          <p:cNvPr id="52" name="Oval 51"/>
          <p:cNvSpPr/>
          <p:nvPr/>
        </p:nvSpPr>
        <p:spPr>
          <a:xfrm>
            <a:off x="9464040" y="3108960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0" y="3044952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灾备演练</a:t>
            </a:r>
          </a:p>
        </p:txBody>
      </p:sp>
      <p:sp>
        <p:nvSpPr>
          <p:cNvPr id="54" name="Oval 53"/>
          <p:cNvSpPr/>
          <p:nvPr/>
        </p:nvSpPr>
        <p:spPr>
          <a:xfrm>
            <a:off x="9464040" y="3749039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3685031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操作审计留痕</a:t>
            </a:r>
          </a:p>
        </p:txBody>
      </p:sp>
      <p:sp>
        <p:nvSpPr>
          <p:cNvPr id="56" name="Oval 55"/>
          <p:cNvSpPr/>
          <p:nvPr/>
        </p:nvSpPr>
        <p:spPr>
          <a:xfrm>
            <a:off x="9464040" y="4389120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92640" y="4325112"/>
            <a:ext cx="219456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异常实时告警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5486400"/>
            <a:ext cx="11247120" cy="868680"/>
          </a:xfrm>
          <a:prstGeom prst="roundRect">
            <a:avLst>
              <a:gd name="adj" fmla="val 4000"/>
            </a:avLst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55778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4332"/>
                </a:solidFill>
                <a:latin typeface="Microsoft YaHei"/>
                <a:ea typeface="Microsoft YaHei"/>
              </a:rPr>
              <a:t>★ 遵循的合规框架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" y="5943600"/>
            <a:ext cx="2103120" cy="36576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" y="598932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《数据安全法》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926080" y="5943600"/>
            <a:ext cx="2103120" cy="36576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26080" y="598932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《个人信息保护法》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66360" y="5943600"/>
            <a:ext cx="2103120" cy="36576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66360" y="598932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等保 2.0 三级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406640" y="5943600"/>
            <a:ext cx="2103120" cy="36576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06640" y="598932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ISO 27001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646920" y="5943600"/>
            <a:ext cx="2103120" cy="36576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46920" y="598932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公司数据分类分级标准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18 / 25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NON-FUNCTIONAL ·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性能与可靠性：满足并优于全部 SLA 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19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703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73152" cy="1143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08760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4332"/>
                </a:solidFill>
                <a:latin typeface="Calibri"/>
                <a:ea typeface="Calibri"/>
              </a:rPr>
              <a:t>≤ 3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48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00">
                <a:solidFill>
                  <a:srgbClr val="6B7280"/>
                </a:solidFill>
                <a:latin typeface="Microsoft YaHei"/>
                <a:ea typeface="Microsoft YaHei"/>
              </a:rPr>
              <a:t>Response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55448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简单事务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0116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录入 / 修改 / 查询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1371600"/>
            <a:ext cx="3703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1371600"/>
            <a:ext cx="73152" cy="1143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1508760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4332"/>
                </a:solidFill>
                <a:latin typeface="Calibri"/>
                <a:ea typeface="Calibri"/>
              </a:rPr>
              <a:t>≤ 10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148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00">
                <a:solidFill>
                  <a:srgbClr val="6B7280"/>
                </a:solidFill>
                <a:latin typeface="Microsoft YaHei"/>
                <a:ea typeface="Microsoft YaHei"/>
              </a:rPr>
              <a:t>Response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155448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复杂事务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20116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多表关联 / 大查询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66175" y="1371600"/>
            <a:ext cx="3703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66175" y="1371600"/>
            <a:ext cx="73152" cy="1143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94776" y="1508760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4332"/>
                </a:solidFill>
                <a:latin typeface="Calibri"/>
                <a:ea typeface="Calibri"/>
              </a:rPr>
              <a:t>≤ 5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4776" y="2148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00">
                <a:solidFill>
                  <a:srgbClr val="6B7280"/>
                </a:solidFill>
                <a:latin typeface="Microsoft YaHei"/>
                <a:ea typeface="Microsoft YaHei"/>
              </a:rPr>
              <a:t>Response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9255" y="155448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图表渲染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9255" y="2011680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10 个专题看板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651760"/>
            <a:ext cx="3703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2651760"/>
            <a:ext cx="73152" cy="1143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2788920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4332"/>
                </a:solidFill>
                <a:latin typeface="Calibri"/>
                <a:ea typeface="Calibri"/>
              </a:rPr>
              <a:t>≤ 2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4290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00">
                <a:solidFill>
                  <a:srgbClr val="6B7280"/>
                </a:solidFill>
                <a:latin typeface="Microsoft YaHei"/>
                <a:ea typeface="Microsoft YaHei"/>
              </a:rPr>
              <a:t>Response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283464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菜单加载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3291839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前端首屏体感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61688" y="2651760"/>
            <a:ext cx="3703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61688" y="2651760"/>
            <a:ext cx="73152" cy="1143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0288" y="2788920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4332"/>
                </a:solidFill>
                <a:latin typeface="Calibri"/>
                <a:ea typeface="Calibri"/>
              </a:rPr>
              <a:t>≤ 2 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0288" y="34290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00">
                <a:solidFill>
                  <a:srgbClr val="6B7280"/>
                </a:solidFill>
                <a:latin typeface="Microsoft YaHei"/>
                <a:ea typeface="Microsoft YaHei"/>
              </a:rPr>
              <a:t>Response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283464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保存/删除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4768" y="3291839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单条记录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66175" y="2651760"/>
            <a:ext cx="3703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66175" y="2651760"/>
            <a:ext cx="73152" cy="1143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94776" y="2788920"/>
            <a:ext cx="1554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4332"/>
                </a:solidFill>
                <a:latin typeface="Calibri"/>
                <a:ea typeface="Calibri"/>
              </a:rPr>
              <a:t>≤ 1 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94776" y="34290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100">
                <a:solidFill>
                  <a:srgbClr val="6B7280"/>
                </a:solidFill>
                <a:latin typeface="Microsoft YaHei"/>
                <a:ea typeface="Microsoft YaHei"/>
              </a:rPr>
              <a:t>Response 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9255" y="283464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屏幕滚动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49255" y="3291839"/>
            <a:ext cx="1920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BI / 移动端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069080"/>
            <a:ext cx="11247120" cy="219456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206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可靠性保障 · 7×24 稳定运行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484632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965192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E8CC6B"/>
                </a:solidFill>
                <a:latin typeface="Calibri"/>
                <a:ea typeface="Calibri"/>
              </a:rPr>
              <a:t>99.9%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48640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整体可用性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76072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E8CC6B"/>
                </a:solidFill>
                <a:latin typeface="Microsoft YaHei"/>
                <a:ea typeface="Microsoft YaHei"/>
              </a:rPr>
              <a:t>全年停机 &lt; 8.8 小时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29000" y="484632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29000" y="4965192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E8CC6B"/>
                </a:solidFill>
                <a:latin typeface="Calibri"/>
                <a:ea typeface="Calibri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29000" y="548640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单点故障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0" y="576072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E8CC6B"/>
                </a:solidFill>
                <a:latin typeface="Microsoft YaHei"/>
                <a:ea typeface="Microsoft YaHei"/>
              </a:rPr>
              <a:t>全链路冗余 + 容灾切换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26480" y="484632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6480" y="4965192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E8CC6B"/>
                </a:solidFill>
                <a:latin typeface="Calibri"/>
                <a:ea typeface="Calibri"/>
              </a:rPr>
              <a:t>RPO ≤ 1h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548640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数据恢复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576072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E8CC6B"/>
                </a:solidFill>
                <a:latin typeface="Microsoft YaHei"/>
                <a:ea typeface="Microsoft YaHei"/>
              </a:rPr>
              <a:t>增量+全量 双备份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23960" y="4846320"/>
            <a:ext cx="2560320" cy="1280160"/>
          </a:xfrm>
          <a:prstGeom prst="roundRect">
            <a:avLst>
              <a:gd name="adj" fmla="val 4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23960" y="4965192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E8CC6B"/>
                </a:solidFill>
                <a:latin typeface="Calibri"/>
                <a:ea typeface="Calibri"/>
              </a:rPr>
              <a:t>RTO ≤ 30m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548640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故障恢复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23960" y="576072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E8CC6B"/>
                </a:solidFill>
                <a:latin typeface="Microsoft YaHei"/>
                <a:ea typeface="Microsoft YaHei"/>
              </a:rPr>
              <a:t>自动切换 + 一键回滚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19 / 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26280" y="0"/>
            <a:ext cx="7315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0" b="1">
                <a:solidFill>
                  <a:srgbClr val="C9A227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spc="300">
                <a:solidFill>
                  <a:srgbClr val="E8CC6B"/>
                </a:solidFill>
                <a:latin typeface="Microsoft YaHei"/>
                <a:ea typeface="Microsoft YaHei"/>
              </a:rPr>
              <a:t>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68580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实施方法论与项目管理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24612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100">
                <a:solidFill>
                  <a:srgbClr val="E8CC6B"/>
                </a:solidFill>
                <a:latin typeface="Microsoft YaHei"/>
                <a:ea typeface="Microsoft YaHei"/>
              </a:rPr>
              <a:t>Delivery Methodology &amp; PMO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840480"/>
            <a:ext cx="54864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4023360"/>
            <a:ext cx="6400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采用“敏捷迭代 + 阶段把关“双轨方法论，将 80 天交付窗口拆解为 4 个里程碑，配套质量、风险与变更控制机制。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20 /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DELIVERY · 5.1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项目里程碑：T+10 / T+60 / T+75 / T+80 四阶段交付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21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80360"/>
            <a:ext cx="10789920" cy="7315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39" y="3246120"/>
            <a:ext cx="260604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39" y="3246120"/>
            <a:ext cx="2606040" cy="36576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79" y="3300984"/>
            <a:ext cx="2423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需求分析与设计</a:t>
            </a:r>
          </a:p>
        </p:txBody>
      </p:sp>
      <p:sp>
        <p:nvSpPr>
          <p:cNvPr id="14" name="Oval 13"/>
          <p:cNvSpPr/>
          <p:nvPr/>
        </p:nvSpPr>
        <p:spPr>
          <a:xfrm>
            <a:off x="182879" y="3749039"/>
            <a:ext cx="109728" cy="109728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59" y="3685031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项目启动会 / 范围与计划确认</a:t>
            </a:r>
          </a:p>
        </p:txBody>
      </p:sp>
      <p:sp>
        <p:nvSpPr>
          <p:cNvPr id="16" name="Oval 15"/>
          <p:cNvSpPr/>
          <p:nvPr/>
        </p:nvSpPr>
        <p:spPr>
          <a:xfrm>
            <a:off x="182879" y="4041648"/>
            <a:ext cx="109728" cy="109728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59" y="3977639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业务流程梳理 + 指标清单确认</a:t>
            </a:r>
          </a:p>
        </p:txBody>
      </p:sp>
      <p:sp>
        <p:nvSpPr>
          <p:cNvPr id="18" name="Oval 17"/>
          <p:cNvSpPr/>
          <p:nvPr/>
        </p:nvSpPr>
        <p:spPr>
          <a:xfrm>
            <a:off x="182879" y="4334255"/>
            <a:ext cx="109728" cy="109728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" y="4270247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输出《项目方案报告》《系统需求确认书》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61872" y="3154680"/>
            <a:ext cx="36576" cy="91439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34640" y="1188720"/>
            <a:ext cx="260604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34640" y="1188720"/>
            <a:ext cx="2606040" cy="36576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1243584"/>
            <a:ext cx="2423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系统开发与测试</a:t>
            </a:r>
          </a:p>
        </p:txBody>
      </p:sp>
      <p:sp>
        <p:nvSpPr>
          <p:cNvPr id="24" name="Oval 23"/>
          <p:cNvSpPr/>
          <p:nvPr/>
        </p:nvSpPr>
        <p:spPr>
          <a:xfrm>
            <a:off x="2926080" y="1691640"/>
            <a:ext cx="109728" cy="10972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1627632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数据接入 / 指标计算 / 看板开发</a:t>
            </a:r>
          </a:p>
        </p:txBody>
      </p:sp>
      <p:sp>
        <p:nvSpPr>
          <p:cNvPr id="26" name="Oval 25"/>
          <p:cNvSpPr/>
          <p:nvPr/>
        </p:nvSpPr>
        <p:spPr>
          <a:xfrm>
            <a:off x="2926080" y="1984248"/>
            <a:ext cx="109728" cy="10972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1920240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AI 应用 (RAG / 报告生成)</a:t>
            </a:r>
          </a:p>
        </p:txBody>
      </p:sp>
      <p:sp>
        <p:nvSpPr>
          <p:cNvPr id="28" name="Oval 27"/>
          <p:cNvSpPr/>
          <p:nvPr/>
        </p:nvSpPr>
        <p:spPr>
          <a:xfrm>
            <a:off x="2926080" y="2276856"/>
            <a:ext cx="109728" cy="109728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2212848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单元测试 + 集成测试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5072" y="2514600"/>
            <a:ext cx="36576" cy="137159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77840" y="3246120"/>
            <a:ext cx="260604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77840" y="3246120"/>
            <a:ext cx="2606040" cy="3657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300984"/>
            <a:ext cx="2423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UAT 与培训</a:t>
            </a:r>
          </a:p>
        </p:txBody>
      </p:sp>
      <p:sp>
        <p:nvSpPr>
          <p:cNvPr id="34" name="Oval 33"/>
          <p:cNvSpPr/>
          <p:nvPr/>
        </p:nvSpPr>
        <p:spPr>
          <a:xfrm>
            <a:off x="5669280" y="3749039"/>
            <a:ext cx="109728" cy="109728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3685031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UAT 用户测试 + 缺陷修复</a:t>
            </a:r>
          </a:p>
        </p:txBody>
      </p:sp>
      <p:sp>
        <p:nvSpPr>
          <p:cNvPr id="36" name="Oval 35"/>
          <p:cNvSpPr/>
          <p:nvPr/>
        </p:nvSpPr>
        <p:spPr>
          <a:xfrm>
            <a:off x="5669280" y="4041648"/>
            <a:ext cx="109728" cy="109728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3977639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管理员 / 业务 / 数据三类培训</a:t>
            </a:r>
          </a:p>
        </p:txBody>
      </p:sp>
      <p:sp>
        <p:nvSpPr>
          <p:cNvPr id="38" name="Oval 37"/>
          <p:cNvSpPr/>
          <p:nvPr/>
        </p:nvSpPr>
        <p:spPr>
          <a:xfrm>
            <a:off x="5669280" y="4334255"/>
            <a:ext cx="109728" cy="109728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4270247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输出《测试报告》《操作手册》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48272" y="3154680"/>
            <a:ext cx="36576" cy="91439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321040" y="1188720"/>
            <a:ext cx="260604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21040" y="1188720"/>
            <a:ext cx="2606040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1243584"/>
            <a:ext cx="2423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上线与试运行</a:t>
            </a:r>
          </a:p>
        </p:txBody>
      </p:sp>
      <p:sp>
        <p:nvSpPr>
          <p:cNvPr id="44" name="Oval 43"/>
          <p:cNvSpPr/>
          <p:nvPr/>
        </p:nvSpPr>
        <p:spPr>
          <a:xfrm>
            <a:off x="8412480" y="1691640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1627632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数据初始化导入 + 灰度发布</a:t>
            </a:r>
          </a:p>
        </p:txBody>
      </p:sp>
      <p:sp>
        <p:nvSpPr>
          <p:cNvPr id="46" name="Oval 45"/>
          <p:cNvSpPr/>
          <p:nvPr/>
        </p:nvSpPr>
        <p:spPr>
          <a:xfrm>
            <a:off x="8412480" y="1984248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5360" y="1920240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试运行 + 性能压测</a:t>
            </a:r>
          </a:p>
        </p:txBody>
      </p:sp>
      <p:sp>
        <p:nvSpPr>
          <p:cNvPr id="48" name="Oval 47"/>
          <p:cNvSpPr/>
          <p:nvPr/>
        </p:nvSpPr>
        <p:spPr>
          <a:xfrm>
            <a:off x="8412480" y="2276856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0" y="2212848"/>
            <a:ext cx="21945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42D3A"/>
                </a:solidFill>
                <a:latin typeface="Microsoft YaHei"/>
                <a:ea typeface="Microsoft YaHei"/>
              </a:rPr>
              <a:t>初验签字 + 转入运维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91472" y="2514600"/>
            <a:ext cx="36576" cy="13715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68680" y="2606040"/>
            <a:ext cx="868680" cy="594360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2743200"/>
            <a:ext cx="868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</a:rPr>
              <a:t>T+10</a:t>
            </a:r>
          </a:p>
        </p:txBody>
      </p:sp>
      <p:sp>
        <p:nvSpPr>
          <p:cNvPr id="53" name="Oval 52"/>
          <p:cNvSpPr/>
          <p:nvPr/>
        </p:nvSpPr>
        <p:spPr>
          <a:xfrm>
            <a:off x="3611880" y="2606040"/>
            <a:ext cx="868680" cy="594360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11880" y="2743200"/>
            <a:ext cx="868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</a:rPr>
              <a:t>T+60</a:t>
            </a:r>
          </a:p>
        </p:txBody>
      </p:sp>
      <p:sp>
        <p:nvSpPr>
          <p:cNvPr id="55" name="Oval 54"/>
          <p:cNvSpPr/>
          <p:nvPr/>
        </p:nvSpPr>
        <p:spPr>
          <a:xfrm>
            <a:off x="6355080" y="2606040"/>
            <a:ext cx="868680" cy="59436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80" y="2743200"/>
            <a:ext cx="868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</a:rPr>
              <a:t>T+75</a:t>
            </a:r>
          </a:p>
        </p:txBody>
      </p:sp>
      <p:sp>
        <p:nvSpPr>
          <p:cNvPr id="57" name="Oval 56"/>
          <p:cNvSpPr/>
          <p:nvPr/>
        </p:nvSpPr>
        <p:spPr>
          <a:xfrm>
            <a:off x="9098280" y="2606040"/>
            <a:ext cx="86868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2743200"/>
            <a:ext cx="868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</a:rPr>
              <a:t>T+80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074920"/>
            <a:ext cx="11247120" cy="1280160"/>
          </a:xfrm>
          <a:prstGeom prst="roundRect">
            <a:avLst>
              <a:gd name="adj" fmla="val 4000"/>
            </a:avLst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5166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B4332"/>
                </a:solidFill>
                <a:latin typeface="Microsoft YaHei"/>
                <a:ea typeface="Microsoft YaHei"/>
              </a:rPr>
              <a:t>★ 关键交付物清单 · Deliverables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5800" y="5532120"/>
            <a:ext cx="219456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" y="5577840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1B4332"/>
                </a:solidFill>
                <a:latin typeface="Microsoft YaHei"/>
                <a:ea typeface="Microsoft YaHei"/>
              </a:rPr>
              <a:t>▎ 项目实施计划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971800" y="5532120"/>
            <a:ext cx="219456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71800" y="5577840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1B4332"/>
                </a:solidFill>
                <a:latin typeface="Microsoft YaHei"/>
                <a:ea typeface="Microsoft YaHei"/>
              </a:rPr>
              <a:t>▎ 系统需求确认书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257800" y="5532120"/>
            <a:ext cx="219456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57800" y="5577840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1B4332"/>
                </a:solidFill>
                <a:latin typeface="Microsoft YaHei"/>
                <a:ea typeface="Microsoft YaHei"/>
              </a:rPr>
              <a:t>▎ 项目方案报告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543800" y="5532120"/>
            <a:ext cx="219456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43800" y="5577840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1B4332"/>
                </a:solidFill>
                <a:latin typeface="Microsoft YaHei"/>
                <a:ea typeface="Microsoft YaHei"/>
              </a:rPr>
              <a:t>▎ 指标清单 / 数据明细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829800" y="5532120"/>
            <a:ext cx="219456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29800" y="5577840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1B4332"/>
                </a:solidFill>
                <a:latin typeface="Microsoft YaHei"/>
                <a:ea typeface="Microsoft YaHei"/>
              </a:rPr>
              <a:t>▎ 测试报告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85800" y="5897880"/>
            <a:ext cx="219456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" y="5943600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1B4332"/>
                </a:solidFill>
                <a:latin typeface="Microsoft YaHei"/>
                <a:ea typeface="Microsoft YaHei"/>
              </a:rPr>
              <a:t>▎ 试运行报告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971800" y="5897880"/>
            <a:ext cx="219456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71800" y="5943600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1B4332"/>
                </a:solidFill>
                <a:latin typeface="Microsoft YaHei"/>
                <a:ea typeface="Microsoft YaHei"/>
              </a:rPr>
              <a:t>▎ 用户操作手册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257800" y="5897880"/>
            <a:ext cx="219456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57800" y="5943600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1B4332"/>
                </a:solidFill>
                <a:latin typeface="Microsoft YaHei"/>
                <a:ea typeface="Microsoft YaHei"/>
              </a:rPr>
              <a:t>▎ 运维手册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543800" y="5897880"/>
            <a:ext cx="2194560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43800" y="5943600"/>
            <a:ext cx="21945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1B4332"/>
                </a:solidFill>
                <a:latin typeface="Microsoft YaHei"/>
                <a:ea typeface="Microsoft YaHei"/>
              </a:rPr>
              <a:t>▎ 验收报告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21 / 25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DELIVERY · 5.2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项目组织：5 类专业角色 + 双方联合作战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22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甲方业务团队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46304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8CC6B"/>
                </a:solidFill>
                <a:latin typeface="Microsoft YaHei"/>
                <a:ea typeface="Microsoft YaHei"/>
              </a:rPr>
              <a:t>乙方实施团队 (我们)</a:t>
            </a:r>
          </a:p>
        </p:txBody>
      </p:sp>
      <p:sp>
        <p:nvSpPr>
          <p:cNvPr id="13" name="Oval 12"/>
          <p:cNvSpPr/>
          <p:nvPr/>
        </p:nvSpPr>
        <p:spPr>
          <a:xfrm>
            <a:off x="5120640" y="1417320"/>
            <a:ext cx="1920240" cy="54864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481328"/>
            <a:ext cx="19202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联合作战 PMO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94560"/>
            <a:ext cx="5440680" cy="411480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317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4332"/>
                </a:solidFill>
                <a:latin typeface="Microsoft YaHei"/>
                <a:ea typeface="Microsoft YaHei"/>
              </a:rPr>
              <a:t>甲方 · 业务侧职责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43200"/>
            <a:ext cx="502920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25000"/>
              </a:lnSpc>
            </a:pPr>
            <a:r>
              <a:rPr sz="1100" b="1">
                <a:solidFill>
                  <a:srgbClr val="1B4332"/>
                </a:solidFill>
                <a:latin typeface="Microsoft YaHei"/>
                <a:ea typeface="Microsoft YaHei"/>
              </a:rPr>
              <a:t>●  </a:t>
            </a:r>
            <a:r>
              <a:rPr sz="1100">
                <a:solidFill>
                  <a:srgbClr val="242D3A"/>
                </a:solidFill>
                <a:latin typeface="Microsoft YaHei"/>
                <a:ea typeface="Microsoft YaHei"/>
              </a:rPr>
              <a:t>明确业务流程与需求优先级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00" b="1">
                <a:solidFill>
                  <a:srgbClr val="1B4332"/>
                </a:solidFill>
                <a:latin typeface="Microsoft YaHei"/>
                <a:ea typeface="Microsoft YaHei"/>
              </a:rPr>
              <a:t>●  </a:t>
            </a:r>
            <a:r>
              <a:rPr sz="1100">
                <a:solidFill>
                  <a:srgbClr val="242D3A"/>
                </a:solidFill>
                <a:latin typeface="Microsoft YaHei"/>
                <a:ea typeface="Microsoft YaHei"/>
              </a:rPr>
              <a:t>配合需求调研与方案评审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00" b="1">
                <a:solidFill>
                  <a:srgbClr val="1B4332"/>
                </a:solidFill>
                <a:latin typeface="Microsoft YaHei"/>
                <a:ea typeface="Microsoft YaHei"/>
              </a:rPr>
              <a:t>●  </a:t>
            </a:r>
            <a:r>
              <a:rPr sz="1100">
                <a:solidFill>
                  <a:srgbClr val="242D3A"/>
                </a:solidFill>
                <a:latin typeface="Microsoft YaHei"/>
                <a:ea typeface="Microsoft YaHei"/>
              </a:rPr>
              <a:t>负责业务数据整理 / 校验 / 确认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00" b="1">
                <a:solidFill>
                  <a:srgbClr val="1B4332"/>
                </a:solidFill>
                <a:latin typeface="Microsoft YaHei"/>
                <a:ea typeface="Microsoft YaHei"/>
              </a:rPr>
              <a:t>●  </a:t>
            </a:r>
            <a:r>
              <a:rPr sz="1100">
                <a:solidFill>
                  <a:srgbClr val="242D3A"/>
                </a:solidFill>
                <a:latin typeface="Microsoft YaHei"/>
                <a:ea typeface="Microsoft YaHei"/>
              </a:rPr>
              <a:t>确认指标口径与计算逻辑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00" b="1">
                <a:solidFill>
                  <a:srgbClr val="1B4332"/>
                </a:solidFill>
                <a:latin typeface="Microsoft YaHei"/>
                <a:ea typeface="Microsoft YaHei"/>
              </a:rPr>
              <a:t>●  </a:t>
            </a:r>
            <a:r>
              <a:rPr sz="1100">
                <a:solidFill>
                  <a:srgbClr val="242D3A"/>
                </a:solidFill>
                <a:latin typeface="Microsoft YaHei"/>
                <a:ea typeface="Microsoft YaHei"/>
              </a:rPr>
              <a:t>参与 UAT 测试与培训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100" b="1">
                <a:solidFill>
                  <a:srgbClr val="1B4332"/>
                </a:solidFill>
                <a:latin typeface="Microsoft YaHei"/>
                <a:ea typeface="Microsoft YaHei"/>
              </a:rPr>
              <a:t>●  </a:t>
            </a:r>
            <a:r>
              <a:rPr sz="1100">
                <a:solidFill>
                  <a:srgbClr val="242D3A"/>
                </a:solidFill>
                <a:latin typeface="Microsoft YaHei"/>
                <a:ea typeface="Microsoft YaHei"/>
              </a:rPr>
              <a:t>项目阶段性成果验收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331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4332"/>
                </a:solidFill>
                <a:latin typeface="Microsoft YaHei"/>
                <a:ea typeface="Microsoft YaHei"/>
              </a:rPr>
              <a:t>乙方 · 5 类专业角色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743200"/>
            <a:ext cx="557784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743200"/>
            <a:ext cx="73152" cy="6400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816352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4332"/>
                </a:solidFill>
                <a:latin typeface="Microsoft YaHei"/>
                <a:ea typeface="Microsoft YaHei"/>
              </a:rPr>
              <a:t>项目经理 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108960"/>
            <a:ext cx="5349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项目计划 / 沟通 / 风险 / 质量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74720"/>
            <a:ext cx="557784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474720"/>
            <a:ext cx="73152" cy="6400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3547872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D6A4F"/>
                </a:solidFill>
                <a:latin typeface="Microsoft YaHei"/>
                <a:ea typeface="Microsoft YaHei"/>
              </a:rPr>
              <a:t>产品经理 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840480"/>
            <a:ext cx="5349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需求调研 / 方案设计 / 业务对接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4206240"/>
            <a:ext cx="557784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4206240"/>
            <a:ext cx="73152" cy="64008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279392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A365D"/>
                </a:solidFill>
                <a:latin typeface="Microsoft YaHei"/>
                <a:ea typeface="Microsoft YaHei"/>
              </a:rPr>
              <a:t>数据负责人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572000"/>
            <a:ext cx="5349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指标体系 / 数据建模 / 数据质量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937760"/>
            <a:ext cx="557784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937760"/>
            <a:ext cx="73152" cy="640080"/>
          </a:xfrm>
          <a:prstGeom prst="rect">
            <a:avLst/>
          </a:prstGeom>
          <a:solidFill>
            <a:srgbClr val="2C5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010912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C5C9B"/>
                </a:solidFill>
                <a:latin typeface="Microsoft YaHei"/>
                <a:ea typeface="Microsoft YaHei"/>
              </a:rPr>
              <a:t>实施团队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303520"/>
            <a:ext cx="5349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开发 / 测试 / 看板 / AI 应用 / 运维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5669280"/>
            <a:ext cx="557784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5669280"/>
            <a:ext cx="73152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5742432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C9A227"/>
                </a:solidFill>
                <a:latin typeface="Microsoft YaHei"/>
                <a:ea typeface="Microsoft YaHei"/>
              </a:rPr>
              <a:t>架构师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6035040"/>
            <a:ext cx="5349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42D3A"/>
                </a:solidFill>
                <a:latin typeface="Microsoft YaHei"/>
                <a:ea typeface="Microsoft YaHei"/>
              </a:rPr>
              <a:t>技术架构 / 性能 / 安全 / 集成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22 / 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DELIVERY · 5.3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质量保障：从需求到上线，4 道质量门 + 6 类文档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23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7889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2788920" cy="6400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8CC6B"/>
                </a:solidFill>
                <a:latin typeface="Calibri"/>
                <a:ea typeface="Calibri"/>
              </a:rPr>
              <a:t>G1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53619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需求门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48840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需求评审 / 优先级 / 范围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63240"/>
            <a:ext cx="242316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5468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4332"/>
                </a:solidFill>
                <a:latin typeface="Microsoft YaHei"/>
                <a:ea typeface="Microsoft YaHei"/>
              </a:rPr>
              <a:t>▎ 《需求确认书》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82696" y="2377440"/>
            <a:ext cx="146304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83280" y="1371600"/>
            <a:ext cx="27889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1371600"/>
            <a:ext cx="2788920" cy="6400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146304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8CC6B"/>
                </a:solidFill>
                <a:latin typeface="Calibri"/>
                <a:ea typeface="Calibri"/>
              </a:rPr>
              <a:t>G2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53619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设计门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148840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方案评审 / 接口 / 数据模型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3063240"/>
            <a:ext cx="242316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315468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4332"/>
                </a:solidFill>
                <a:latin typeface="Microsoft YaHei"/>
                <a:ea typeface="Microsoft YaHei"/>
              </a:rPr>
              <a:t>▎ 《方案报告》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208776" y="2377440"/>
            <a:ext cx="146304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1371600"/>
            <a:ext cx="27889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371600"/>
            <a:ext cx="2788920" cy="6400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46304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8CC6B"/>
                </a:solidFill>
                <a:latin typeface="Calibri"/>
                <a:ea typeface="Calibri"/>
              </a:rPr>
              <a:t>G3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153619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测试门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148840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单元 + 集成 + UAT + 性能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063240"/>
            <a:ext cx="242316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15468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4332"/>
                </a:solidFill>
                <a:latin typeface="Microsoft YaHei"/>
                <a:ea typeface="Microsoft YaHei"/>
              </a:rPr>
              <a:t>▎ 《测试报告》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134855" y="2377440"/>
            <a:ext cx="146304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35440" y="1371600"/>
            <a:ext cx="27889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1371600"/>
            <a:ext cx="2788920" cy="6400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146304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E8CC6B"/>
                </a:solidFill>
                <a:latin typeface="Calibri"/>
                <a:ea typeface="Calibri"/>
              </a:rPr>
              <a:t>G4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1536192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上线门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148840"/>
            <a:ext cx="260604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灰度 / 试运行 / 数据校验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3063240"/>
            <a:ext cx="242316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315468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4332"/>
                </a:solidFill>
                <a:latin typeface="Microsoft YaHei"/>
                <a:ea typeface="Microsoft YaHei"/>
              </a:rPr>
              <a:t>▎ 《验收报告》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风险管理 · Risk Management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251960"/>
            <a:ext cx="2788920" cy="201168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4251960"/>
            <a:ext cx="73152" cy="201168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3891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365D"/>
                </a:solidFill>
                <a:latin typeface="Microsoft YaHei"/>
                <a:ea typeface="Microsoft YaHei"/>
              </a:rPr>
              <a:t>数据口径分歧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75488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概率 中 / 影响 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120640"/>
            <a:ext cx="274320" cy="36576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212080"/>
            <a:ext cx="24688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缓解 · 联合工作坊 + 高层例会拍板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83280" y="4251960"/>
            <a:ext cx="2788920" cy="201168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83280" y="4251960"/>
            <a:ext cx="73152" cy="201168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66160" y="43891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D6A4F"/>
                </a:solidFill>
                <a:latin typeface="Microsoft YaHei"/>
                <a:ea typeface="Microsoft YaHei"/>
              </a:rPr>
              <a:t>数据源接入延迟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66160" y="475488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概率 中 / 影响 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66160" y="5120640"/>
            <a:ext cx="274320" cy="36576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60" y="5212080"/>
            <a:ext cx="24688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缓解 · 提前打通 + 替代源 Mock 数据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09360" y="4251960"/>
            <a:ext cx="2788920" cy="201168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9360" y="4251960"/>
            <a:ext cx="73152" cy="20116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43891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4332"/>
                </a:solidFill>
                <a:latin typeface="Microsoft YaHei"/>
                <a:ea typeface="Microsoft YaHei"/>
              </a:rPr>
              <a:t>AI 准确率不达预期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475488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概率 低 / 影响 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5120640"/>
            <a:ext cx="274320" cy="36576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5212080"/>
            <a:ext cx="24688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缓解 · Citation 强引用 + 人工评审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35440" y="4251960"/>
            <a:ext cx="2788920" cy="201168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235440" y="4251960"/>
            <a:ext cx="73152" cy="2011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20" y="43891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范围蔓延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0" y="475488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概率 高 / 影响 中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18320" y="5120640"/>
            <a:ext cx="27432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18320" y="5212080"/>
            <a:ext cx="24688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缓解 · 变更走 PR + 工作量评估流程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23 / 25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26280" y="0"/>
            <a:ext cx="7315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0" b="1">
                <a:solidFill>
                  <a:srgbClr val="C9A227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spc="300">
                <a:solidFill>
                  <a:srgbClr val="E8CC6B"/>
                </a:solidFill>
                <a:latin typeface="Microsoft YaHei"/>
                <a:ea typeface="Microsoft YaHei"/>
              </a:rPr>
              <a:t>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68580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运维服务与价值交付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24612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100">
                <a:solidFill>
                  <a:srgbClr val="E8CC6B"/>
                </a:solidFill>
                <a:latin typeface="Microsoft YaHei"/>
                <a:ea typeface="Microsoft YaHei"/>
              </a:rPr>
              <a:t>Operation &amp; Value Delivery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840480"/>
            <a:ext cx="54864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4023360"/>
            <a:ext cx="6400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项目验收后提供 1 年免费运维 7×24 支持，并通过价值面板量化数据 BI + AI 投资回报。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24 /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OPERATION ·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运维服务：1 年免费 + 7×24 + 标准化流程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25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服务能力矩阵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54864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" y="1947672"/>
            <a:ext cx="320040" cy="32004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93392"/>
            <a:ext cx="320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892807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4332"/>
                </a:solidFill>
                <a:latin typeface="Microsoft YaHei"/>
                <a:ea typeface="Microsoft YaHei"/>
              </a:rPr>
              <a:t>故障排除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1947672"/>
            <a:ext cx="3383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P0 30 分钟内响应 / 4 小时内修复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68880"/>
            <a:ext cx="54864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" y="2587752"/>
            <a:ext cx="320040" cy="32004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33472"/>
            <a:ext cx="320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53288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4332"/>
                </a:solidFill>
                <a:latin typeface="Microsoft YaHei"/>
                <a:ea typeface="Microsoft YaHei"/>
              </a:rPr>
              <a:t>使用答疑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587752"/>
            <a:ext cx="3383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电话 + 邮件 + IM + 现场 多通道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08960"/>
            <a:ext cx="54864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" y="3227832"/>
            <a:ext cx="320040" cy="32004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273552"/>
            <a:ext cx="320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17296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4332"/>
                </a:solidFill>
                <a:latin typeface="Microsoft YaHei"/>
                <a:ea typeface="Microsoft YaHei"/>
              </a:rPr>
              <a:t>性能调优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227832"/>
            <a:ext cx="3383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周度健康巡检 + 季度优化建议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749039"/>
            <a:ext cx="54864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3867911"/>
            <a:ext cx="320040" cy="32004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913631"/>
            <a:ext cx="320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81304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4332"/>
                </a:solidFill>
                <a:latin typeface="Microsoft YaHei"/>
                <a:ea typeface="Microsoft YaHei"/>
              </a:rPr>
              <a:t>技术咨询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867911"/>
            <a:ext cx="3383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数据 / BI / AI 三类专家支持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389120"/>
            <a:ext cx="54864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4360" y="4507992"/>
            <a:ext cx="320040" cy="32004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553712"/>
            <a:ext cx="320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4531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4332"/>
                </a:solidFill>
                <a:latin typeface="Microsoft YaHei"/>
                <a:ea typeface="Microsoft YaHei"/>
              </a:rPr>
              <a:t>使用培训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4507992"/>
            <a:ext cx="3383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新员工 / 业务 / 管理员 三类培训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029200"/>
            <a:ext cx="54864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94360" y="5148072"/>
            <a:ext cx="320040" cy="320040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193792"/>
            <a:ext cx="320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09320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B4332"/>
                </a:solidFill>
                <a:latin typeface="Microsoft YaHei"/>
                <a:ea typeface="Microsoft YaHei"/>
              </a:rPr>
              <a:t>协调供应商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5148072"/>
            <a:ext cx="33832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永洪 / 阿里云 / 百炼 关系协调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3716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4332"/>
                </a:solidFill>
                <a:latin typeface="Microsoft YaHei"/>
                <a:ea typeface="Microsoft YaHei"/>
              </a:rPr>
              <a:t>运维流程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1874519"/>
            <a:ext cx="777240" cy="77724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2121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接单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79" y="2121408"/>
            <a:ext cx="137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78040" y="1874519"/>
            <a:ext cx="777240" cy="777240"/>
          </a:xfrm>
          <a:prstGeom prst="roundRect">
            <a:avLst>
              <a:gd name="adj" fmla="val 4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78040" y="2121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分级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2121408"/>
            <a:ext cx="137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1874519"/>
            <a:ext cx="777240" cy="77724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92440" y="2121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排查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2121408"/>
            <a:ext cx="137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06840" y="1874519"/>
            <a:ext cx="777240" cy="777240"/>
          </a:xfrm>
          <a:prstGeom prst="roundRect">
            <a:avLst>
              <a:gd name="adj" fmla="val 4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06840" y="2121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修复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2121408"/>
            <a:ext cx="137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21240" y="1874519"/>
            <a:ext cx="777240" cy="77724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21240" y="2121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验证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98480" y="2121408"/>
            <a:ext cx="137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C9A227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835640" y="1874519"/>
            <a:ext cx="777240" cy="777240"/>
          </a:xfrm>
          <a:prstGeom prst="roundRect">
            <a:avLst>
              <a:gd name="adj" fmla="val 4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35640" y="2121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复盘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63640" y="2926080"/>
            <a:ext cx="5486400" cy="329184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306324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★ SLA 服务级别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0" y="3520440"/>
            <a:ext cx="5212080" cy="548640"/>
          </a:xfrm>
          <a:prstGeom prst="roundRect">
            <a:avLst>
              <a:gd name="adj" fmla="val 4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37960" y="361188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CC6B"/>
                </a:solidFill>
                <a:latin typeface="Microsoft YaHei"/>
                <a:ea typeface="Microsoft YaHei"/>
              </a:rPr>
              <a:t>P0 紧急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09560" y="3639312"/>
            <a:ext cx="36118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</a:rPr>
              <a:t>30 分钟响应 / 4 小时修复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0" y="4160520"/>
            <a:ext cx="5212080" cy="548640"/>
          </a:xfrm>
          <a:prstGeom prst="roundRect">
            <a:avLst>
              <a:gd name="adj" fmla="val 4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37960" y="425195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CC6B"/>
                </a:solidFill>
                <a:latin typeface="Microsoft YaHei"/>
                <a:ea typeface="Microsoft YaHei"/>
              </a:rPr>
              <a:t>P1 严重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09560" y="4279392"/>
            <a:ext cx="36118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</a:rPr>
              <a:t>1 小时响应 / 1 工作日修复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0" y="4800600"/>
            <a:ext cx="5212080" cy="548640"/>
          </a:xfrm>
          <a:prstGeom prst="roundRect">
            <a:avLst>
              <a:gd name="adj" fmla="val 4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37960" y="489204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CC6B"/>
                </a:solidFill>
                <a:latin typeface="Microsoft YaHei"/>
                <a:ea typeface="Microsoft YaHei"/>
              </a:rPr>
              <a:t>P2 一般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09560" y="4919472"/>
            <a:ext cx="36118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</a:rPr>
              <a:t>4 小时响应 / 3 工作日修复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0" y="5440679"/>
            <a:ext cx="5212080" cy="548640"/>
          </a:xfrm>
          <a:prstGeom prst="roundRect">
            <a:avLst>
              <a:gd name="adj" fmla="val 4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37960" y="5532119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CC6B"/>
                </a:solidFill>
                <a:latin typeface="Microsoft YaHei"/>
                <a:ea typeface="Microsoft YaHei"/>
              </a:rPr>
              <a:t>P3 咨询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09560" y="5559551"/>
            <a:ext cx="361188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</a:rPr>
              <a:t>1 工作日响应 / 5 工作日答复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25 / 25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4114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37160" cy="411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"/>
            <a:ext cx="54864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</a:rPr>
              <a:t>WHY US · 7.1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4332"/>
                </a:solidFill>
                <a:latin typeface="Microsoft YaHei"/>
                <a:ea typeface="Microsoft YaHei"/>
              </a:rPr>
              <a:t>我们的能力与差异化：数据 BI + AI 一体化的 Top 咨询力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0704"/>
            <a:ext cx="411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060704"/>
            <a:ext cx="164592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26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7033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703320" cy="77724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90472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FFFFFF"/>
                </a:solidFill>
                <a:latin typeface="Microsoft YaHei"/>
                <a:ea typeface="Microsoft YaHei"/>
              </a:rPr>
              <a:t>DATA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数据 BI 能力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2423160"/>
            <a:ext cx="164592" cy="16459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59152"/>
            <a:ext cx="3154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10+ 永洪 BI 大型实施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2926080"/>
            <a:ext cx="164592" cy="16459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62072"/>
            <a:ext cx="3154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200+ 战略指标体系交付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429000"/>
            <a:ext cx="164592" cy="164592"/>
          </a:xfrm>
          <a:prstGeom prst="ellipse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64992"/>
            <a:ext cx="3154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业务+财务+研发指标治理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1371600"/>
            <a:ext cx="37033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1688" y="1371600"/>
            <a:ext cx="3703320" cy="77724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490472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FFFFFF"/>
                </a:solidFill>
                <a:latin typeface="Microsoft YaHei"/>
                <a:ea typeface="Microsoft YaHei"/>
              </a:rPr>
              <a:t>AI APPS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173736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AI 应用能力</a:t>
            </a:r>
          </a:p>
        </p:txBody>
      </p:sp>
      <p:sp>
        <p:nvSpPr>
          <p:cNvPr id="24" name="Oval 23"/>
          <p:cNvSpPr/>
          <p:nvPr/>
        </p:nvSpPr>
        <p:spPr>
          <a:xfrm>
            <a:off x="4590288" y="2423160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2359152"/>
            <a:ext cx="3154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阿里百炼大模型深度合作</a:t>
            </a:r>
          </a:p>
        </p:txBody>
      </p:sp>
      <p:sp>
        <p:nvSpPr>
          <p:cNvPr id="26" name="Oval 25"/>
          <p:cNvSpPr/>
          <p:nvPr/>
        </p:nvSpPr>
        <p:spPr>
          <a:xfrm>
            <a:off x="4590288" y="2926080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2862072"/>
            <a:ext cx="3154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RAG / 自动化报告标准件</a:t>
            </a:r>
          </a:p>
        </p:txBody>
      </p:sp>
      <p:sp>
        <p:nvSpPr>
          <p:cNvPr id="28" name="Oval 27"/>
          <p:cNvSpPr/>
          <p:nvPr/>
        </p:nvSpPr>
        <p:spPr>
          <a:xfrm>
            <a:off x="4590288" y="3429000"/>
            <a:ext cx="164592" cy="164592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8888" y="3364992"/>
            <a:ext cx="3154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30+ 企业级 AI 落地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66175" y="1371600"/>
            <a:ext cx="37033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66175" y="1371600"/>
            <a:ext cx="3703320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49055" y="1490472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spc="200">
                <a:solidFill>
                  <a:srgbClr val="FFFFFF"/>
                </a:solidFill>
                <a:latin typeface="Microsoft YaHei"/>
                <a:ea typeface="Microsoft YaHei"/>
              </a:rPr>
              <a:t>INDUSTRY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5" y="173736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种业行业理解</a:t>
            </a:r>
          </a:p>
        </p:txBody>
      </p:sp>
      <p:sp>
        <p:nvSpPr>
          <p:cNvPr id="34" name="Oval 33"/>
          <p:cNvSpPr/>
          <p:nvPr/>
        </p:nvSpPr>
        <p:spPr>
          <a:xfrm>
            <a:off x="8494776" y="2423160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3376" y="2359152"/>
            <a:ext cx="3154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种业战略指标体系经验</a:t>
            </a:r>
          </a:p>
        </p:txBody>
      </p:sp>
      <p:sp>
        <p:nvSpPr>
          <p:cNvPr id="36" name="Oval 35"/>
          <p:cNvSpPr/>
          <p:nvPr/>
        </p:nvSpPr>
        <p:spPr>
          <a:xfrm>
            <a:off x="8494776" y="2926080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23376" y="2862072"/>
            <a:ext cx="3154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Wind / 种业报告 数据建模</a:t>
            </a:r>
          </a:p>
        </p:txBody>
      </p:sp>
      <p:sp>
        <p:nvSpPr>
          <p:cNvPr id="38" name="Oval 37"/>
          <p:cNvSpPr/>
          <p:nvPr/>
        </p:nvSpPr>
        <p:spPr>
          <a:xfrm>
            <a:off x="8494776" y="3429000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23376" y="3364992"/>
            <a:ext cx="31546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42D3A"/>
                </a:solidFill>
                <a:latin typeface="Microsoft YaHei"/>
                <a:ea typeface="Microsoft YaHei"/>
              </a:rPr>
              <a:t>对标分析 + 差距诊断方法论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297680"/>
            <a:ext cx="11247120" cy="2011680"/>
          </a:xfrm>
          <a:prstGeom prst="roundRect">
            <a:avLst>
              <a:gd name="adj" fmla="val 4000"/>
            </a:avLst>
          </a:prstGeom>
          <a:solidFill>
            <a:srgbClr val="F8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416552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4332"/>
                </a:solidFill>
                <a:latin typeface="Microsoft YaHei"/>
                <a:ea typeface="Microsoft YaHei"/>
              </a:rPr>
              <a:t>★ 标杆案例 · Selected Cases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484632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4846320"/>
            <a:ext cx="54864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98348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4332"/>
                </a:solidFill>
                <a:latin typeface="Microsoft YaHei"/>
                <a:ea typeface="Microsoft YaHei"/>
              </a:rPr>
              <a:t>农业头部集团 · 战略指标库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5394959"/>
            <a:ext cx="3246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150+ 指标 / 12 看板 / 上线后决策周期缩短 40%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484632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43400" y="4846320"/>
            <a:ext cx="54864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80" y="498348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4332"/>
                </a:solidFill>
                <a:latin typeface="Microsoft YaHei"/>
                <a:ea typeface="Microsoft YaHei"/>
              </a:rPr>
              <a:t>央企 · 行业对标平台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5394959"/>
            <a:ext cx="3246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覆盖 6 大对标维度 / 与 Wind / 万得直连 / 季度自动出报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01000" y="4846320"/>
            <a:ext cx="35204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B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01000" y="4846320"/>
            <a:ext cx="54864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79" y="498348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4332"/>
                </a:solidFill>
                <a:latin typeface="Microsoft YaHei"/>
                <a:ea typeface="Microsoft YaHei"/>
              </a:rPr>
              <a:t>生物科技 · AI 智能问答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79" y="5394959"/>
            <a:ext cx="3246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242D3A"/>
                </a:solidFill>
                <a:latin typeface="Microsoft YaHei"/>
                <a:ea typeface="Microsoft YaHei"/>
              </a:rPr>
              <a:t>百炼 + RAG / 内部 8000+ 文档 / 月活 1200+ / 答案准确率 92%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26 / 27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种业战略信息库 · 优化升级 Proposal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914400"/>
            <a:ext cx="3657600" cy="3657600"/>
          </a:xfrm>
          <a:prstGeom prst="ellipse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1371600"/>
            <a:ext cx="2743200" cy="2743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300">
                <a:solidFill>
                  <a:srgbClr val="E8CC6B"/>
                </a:solidFill>
                <a:latin typeface="Microsoft YaHei"/>
                <a:ea typeface="Microsoft YaHei"/>
              </a:rPr>
              <a:t>VALUE COMMITMENT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</a:rPr>
              <a:t>让数据成为种业战略的指南针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E8CC6B"/>
                </a:solidFill>
                <a:latin typeface="Microsoft YaHei"/>
                <a:ea typeface="Microsoft YaHei"/>
              </a:rPr>
              <a:t>Make Data the Compass of Seed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23360"/>
            <a:ext cx="54864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4343400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9768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交付质量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31596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8CC6B"/>
                </a:solidFill>
                <a:latin typeface="Microsoft YaHei"/>
                <a:ea typeface="Microsoft YaHei"/>
              </a:rPr>
              <a:t>·  全部 SLA 100% 达标 · 超出验收标准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846320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0060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业务价值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8CC6B"/>
                </a:solidFill>
                <a:latin typeface="Microsoft YaHei"/>
                <a:ea typeface="Microsoft YaHei"/>
              </a:rPr>
              <a:t>·  决策周期缩短 30%+ · 数据复用率提升 50%+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49240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303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长期合作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32180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8CC6B"/>
                </a:solidFill>
                <a:latin typeface="Microsoft YaHei"/>
                <a:ea typeface="Microsoft YaHei"/>
              </a:rPr>
              <a:t>·  1 年免费运维 + 持续迭代路线图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XX 数字化咨询有限公司  ·  Senior Partner Office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CC6B"/>
                </a:solidFill>
                <a:latin typeface="Microsoft YaHei"/>
                <a:ea typeface="Microsoft YaHei"/>
              </a:rPr>
              <a:t>contact@example.com  ·  +86 xxx-xxxx-xxxx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630936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 spc="400">
                <a:solidFill>
                  <a:srgbClr val="FFFFFF"/>
                </a:solidFill>
                <a:latin typeface="Microsoft YaHei"/>
                <a:ea typeface="Microsoft YaHe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